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89" r:id="rId4"/>
    <p:sldId id="271" r:id="rId5"/>
    <p:sldId id="290" r:id="rId6"/>
    <p:sldId id="291" r:id="rId7"/>
    <p:sldId id="292" r:id="rId8"/>
    <p:sldId id="288" r:id="rId9"/>
    <p:sldId id="293" r:id="rId10"/>
    <p:sldId id="297" r:id="rId11"/>
    <p:sldId id="294" r:id="rId12"/>
    <p:sldId id="295" r:id="rId13"/>
    <p:sldId id="287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Marcolan" initials="JM" lastIdx="1" clrIdx="0">
    <p:extLst>
      <p:ext uri="{19B8F6BF-5375-455C-9EA6-DF929625EA0E}">
        <p15:presenceInfo xmlns:p15="http://schemas.microsoft.com/office/powerpoint/2012/main" userId="Julia Marcol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CFF"/>
    <a:srgbClr val="EF3E58"/>
    <a:srgbClr val="67F2F2"/>
    <a:srgbClr val="FFFAEC"/>
    <a:srgbClr val="FF9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>
        <p:scale>
          <a:sx n="80" d="100"/>
          <a:sy n="80" d="100"/>
        </p:scale>
        <p:origin x="643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A9EBC7-1B4F-4980-890E-C72F0E2BCDCD}" type="datetimeFigureOut">
              <a:rPr lang="pt-BR" smtClean="0"/>
              <a:t>11/11/2025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67DAB-03AE-4973-9434-ECBF206541C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7057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467DAB-03AE-4973-9434-ECBF206541C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7784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9C2C8-F7CF-4BFA-866E-1BED083FA27D}" type="datetime1">
              <a:rPr lang="pt-BR" smtClean="0"/>
              <a:t>11/11/2025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FF91-5045-4B79-8625-7B2EAF077CB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198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91428-89E5-460B-9698-75C84003A0AA}" type="datetime1">
              <a:rPr lang="pt-BR" smtClean="0"/>
              <a:t>11/11/2025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FF91-5045-4B79-8625-7B2EAF077CB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6107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EC4BB-4E84-4875-BB63-1CDC5192645C}" type="datetime1">
              <a:rPr lang="pt-BR" smtClean="0"/>
              <a:t>11/11/2025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FF91-5045-4B79-8625-7B2EAF077CB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9608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8580D-8673-40D8-8707-79B918759413}" type="datetime1">
              <a:rPr lang="pt-BR" smtClean="0"/>
              <a:t>11/11/2025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FF91-5045-4B79-8625-7B2EAF077CB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0649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5BD8F-4AE3-4DB9-8738-10E36C868DD6}" type="datetime1">
              <a:rPr lang="pt-BR" smtClean="0"/>
              <a:t>11/11/2025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FF91-5045-4B79-8625-7B2EAF077CB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0490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C5972-641F-4C4A-8B6C-1E807F4E31E6}" type="datetime1">
              <a:rPr lang="pt-BR" smtClean="0"/>
              <a:t>11/11/2025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FF91-5045-4B79-8625-7B2EAF077CB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4597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94EE8-9225-4DD0-A935-AC3C5CBE0383}" type="datetime1">
              <a:rPr lang="pt-BR" smtClean="0"/>
              <a:t>11/11/2025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FF91-5045-4B79-8625-7B2EAF077CB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5002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B250B-3EFA-4D86-A7B7-25CEB61D7FE1}" type="datetime1">
              <a:rPr lang="pt-BR" smtClean="0"/>
              <a:t>11/11/2025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FF91-5045-4B79-8625-7B2EAF077CB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384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44C4B-85CD-4B9D-A78B-0EFF7487FBA3}" type="datetime1">
              <a:rPr lang="pt-BR" smtClean="0"/>
              <a:t>11/11/2025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FF91-5045-4B79-8625-7B2EAF077CB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2578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A4260-0323-43B9-93D3-F3FFA014B923}" type="datetime1">
              <a:rPr lang="pt-BR" smtClean="0"/>
              <a:t>11/11/2025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FF91-5045-4B79-8625-7B2EAF077CB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1985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1C6E1-08E8-4859-A4FB-5119C5D6B18B}" type="datetime1">
              <a:rPr lang="pt-BR" smtClean="0"/>
              <a:t>11/11/2025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FF91-5045-4B79-8625-7B2EAF077CB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8484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0C0CF-AC1C-49F6-B97F-3DC592122B98}" type="datetime1">
              <a:rPr lang="pt-BR" smtClean="0"/>
              <a:t>11/11/2025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DFF91-5045-4B79-8625-7B2EAF077CB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0300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0770" y="49319"/>
            <a:ext cx="11895826" cy="6573329"/>
          </a:xfrm>
          <a:prstGeom prst="rect">
            <a:avLst/>
          </a:prstGeom>
          <a:noFill/>
          <a:ln w="19050">
            <a:solidFill>
              <a:srgbClr val="EF3E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3030" y="5520395"/>
            <a:ext cx="1440338" cy="746095"/>
          </a:xfrm>
          <a:prstGeom prst="rect">
            <a:avLst/>
          </a:prstGeom>
        </p:spPr>
      </p:pic>
      <p:cxnSp>
        <p:nvCxnSpPr>
          <p:cNvPr id="23" name="Straight Connector 22"/>
          <p:cNvCxnSpPr/>
          <p:nvPr/>
        </p:nvCxnSpPr>
        <p:spPr>
          <a:xfrm>
            <a:off x="120770" y="467198"/>
            <a:ext cx="11895826" cy="0"/>
          </a:xfrm>
          <a:prstGeom prst="line">
            <a:avLst/>
          </a:prstGeom>
          <a:ln w="19050">
            <a:solidFill>
              <a:srgbClr val="EF3E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/>
          <p:cNvGrpSpPr/>
          <p:nvPr/>
        </p:nvGrpSpPr>
        <p:grpSpPr>
          <a:xfrm>
            <a:off x="266318" y="199093"/>
            <a:ext cx="675736" cy="155276"/>
            <a:chOff x="2104845" y="1173192"/>
            <a:chExt cx="675736" cy="155276"/>
          </a:xfrm>
        </p:grpSpPr>
        <p:sp>
          <p:nvSpPr>
            <p:cNvPr id="25" name="Oval 24"/>
            <p:cNvSpPr/>
            <p:nvPr/>
          </p:nvSpPr>
          <p:spPr>
            <a:xfrm>
              <a:off x="2104845" y="1173192"/>
              <a:ext cx="163902" cy="155276"/>
            </a:xfrm>
            <a:prstGeom prst="ellipse">
              <a:avLst/>
            </a:prstGeom>
            <a:solidFill>
              <a:srgbClr val="FFFAEC"/>
            </a:solidFill>
            <a:ln>
              <a:solidFill>
                <a:srgbClr val="FFFA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Oval 25"/>
            <p:cNvSpPr/>
            <p:nvPr/>
          </p:nvSpPr>
          <p:spPr>
            <a:xfrm>
              <a:off x="2360762" y="1173192"/>
              <a:ext cx="163902" cy="155276"/>
            </a:xfrm>
            <a:prstGeom prst="ellipse">
              <a:avLst/>
            </a:prstGeom>
            <a:solidFill>
              <a:srgbClr val="FFECFF"/>
            </a:solidFill>
            <a:ln>
              <a:solidFill>
                <a:srgbClr val="FFE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Oval 26"/>
            <p:cNvSpPr/>
            <p:nvPr/>
          </p:nvSpPr>
          <p:spPr>
            <a:xfrm>
              <a:off x="2616679" y="1173192"/>
              <a:ext cx="163902" cy="155276"/>
            </a:xfrm>
            <a:prstGeom prst="ellipse">
              <a:avLst/>
            </a:prstGeom>
            <a:solidFill>
              <a:srgbClr val="67F2F2">
                <a:alpha val="50000"/>
              </a:srgbClr>
            </a:solidFill>
            <a:ln>
              <a:solidFill>
                <a:srgbClr val="67F2F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30" name="Straight Connector 29"/>
          <p:cNvCxnSpPr/>
          <p:nvPr/>
        </p:nvCxnSpPr>
        <p:spPr>
          <a:xfrm flipV="1">
            <a:off x="120770" y="4915940"/>
            <a:ext cx="7330749" cy="27022"/>
          </a:xfrm>
          <a:prstGeom prst="line">
            <a:avLst/>
          </a:prstGeom>
          <a:ln w="38100">
            <a:solidFill>
              <a:srgbClr val="EF3E58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351497" y="4429835"/>
            <a:ext cx="59218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rgbClr val="EF3E58"/>
                </a:solidFill>
                <a:latin typeface="Bahnschrift Light Condensed" panose="020B0502040204020203" pitchFamily="34" charset="0"/>
              </a:rPr>
              <a:t>Julia Marcolan – Instituto de Física de São Carlos (IFSC)</a:t>
            </a:r>
            <a:endParaRPr lang="pt-BR" sz="2400" b="1" dirty="0">
              <a:solidFill>
                <a:srgbClr val="EF3E58"/>
              </a:solidFill>
              <a:latin typeface="Bahnschrift Light Condensed" panose="020B0502040204020203" pitchFamily="34" charset="0"/>
            </a:endParaRP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62" y="3829308"/>
            <a:ext cx="1141968" cy="124261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181599" y="6236859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15 de novembro de 2025</a:t>
            </a:r>
            <a:endParaRPr lang="pt-BR" dirty="0"/>
          </a:p>
        </p:txBody>
      </p:sp>
      <p:sp>
        <p:nvSpPr>
          <p:cNvPr id="44" name="Rectangle 43"/>
          <p:cNvSpPr/>
          <p:nvPr/>
        </p:nvSpPr>
        <p:spPr>
          <a:xfrm>
            <a:off x="5161577" y="6226834"/>
            <a:ext cx="2763221" cy="333180"/>
          </a:xfrm>
          <a:prstGeom prst="rect">
            <a:avLst/>
          </a:prstGeom>
          <a:solidFill>
            <a:schemeClr val="accent4">
              <a:lumMod val="20000"/>
              <a:lumOff val="80000"/>
              <a:alpha val="37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" name="Group 1"/>
          <p:cNvGrpSpPr/>
          <p:nvPr/>
        </p:nvGrpSpPr>
        <p:grpSpPr>
          <a:xfrm>
            <a:off x="604186" y="1518497"/>
            <a:ext cx="6527189" cy="2862322"/>
            <a:chOff x="635436" y="1419220"/>
            <a:chExt cx="6527189" cy="2862322"/>
          </a:xfrm>
        </p:grpSpPr>
        <p:sp>
          <p:nvSpPr>
            <p:cNvPr id="37" name="Rectangle 4"/>
            <p:cNvSpPr>
              <a:spLocks noChangeArrowheads="1"/>
            </p:cNvSpPr>
            <p:nvPr/>
          </p:nvSpPr>
          <p:spPr bwMode="auto">
            <a:xfrm>
              <a:off x="635436" y="1419220"/>
              <a:ext cx="6527189" cy="28623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pt-BR" altLang="pt-BR" sz="6000" dirty="0" smtClean="0">
                  <a:latin typeface="Bahnschrift Light Condensed" panose="020B0502040204020203" pitchFamily="34" charset="0"/>
                </a:rPr>
                <a:t>COSTURANDO PIXELS: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pt-BR" altLang="pt-BR" sz="6000" dirty="0" smtClean="0">
                  <a:latin typeface="Bahnschrift Light Condensed" panose="020B0502040204020203" pitchFamily="34" charset="0"/>
                </a:rPr>
                <a:t> DO CÓDIGO AO TECIDO </a:t>
              </a:r>
              <a:endParaRPr kumimoji="0" lang="pt-BR" altLang="pt-BR" sz="6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altLang="pt-BR" sz="6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163782" y="1615616"/>
              <a:ext cx="5384800" cy="810931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37000"/>
              </a:schemeClr>
            </a:solidFill>
            <a:ln>
              <a:solidFill>
                <a:schemeClr val="accent1">
                  <a:shade val="50000"/>
                  <a:alpha val="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168398" y="2563568"/>
              <a:ext cx="5537201" cy="810931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37000"/>
              </a:schemeClr>
            </a:solidFill>
            <a:ln>
              <a:solidFill>
                <a:schemeClr val="accent1">
                  <a:shade val="50000"/>
                  <a:alpha val="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3091" y="1368142"/>
            <a:ext cx="3703782" cy="3703782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658" y="1965868"/>
            <a:ext cx="696977" cy="69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44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22988" y="74487"/>
            <a:ext cx="293077" cy="365125"/>
          </a:xfrm>
        </p:spPr>
        <p:txBody>
          <a:bodyPr/>
          <a:lstStyle/>
          <a:p>
            <a:fld id="{CC0DFF91-5045-4B79-8625-7B2EAF077CB3}" type="slidenum">
              <a:rPr lang="pt-BR" smtClean="0">
                <a:solidFill>
                  <a:srgbClr val="EF3E58"/>
                </a:solidFill>
              </a:rPr>
              <a:t>2</a:t>
            </a:fld>
            <a:endParaRPr lang="pt-BR" dirty="0">
              <a:solidFill>
                <a:srgbClr val="EF3E58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20770" y="86264"/>
            <a:ext cx="11895826" cy="6573329"/>
            <a:chOff x="120770" y="86264"/>
            <a:chExt cx="11895826" cy="6573329"/>
          </a:xfrm>
        </p:grpSpPr>
        <p:sp>
          <p:nvSpPr>
            <p:cNvPr id="11" name="Rectangle 10"/>
            <p:cNvSpPr/>
            <p:nvPr/>
          </p:nvSpPr>
          <p:spPr>
            <a:xfrm>
              <a:off x="120770" y="86264"/>
              <a:ext cx="11895826" cy="6573329"/>
            </a:xfrm>
            <a:prstGeom prst="rect">
              <a:avLst/>
            </a:prstGeom>
            <a:noFill/>
            <a:ln w="19050">
              <a:solidFill>
                <a:srgbClr val="EF3E5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120770" y="424066"/>
              <a:ext cx="11895826" cy="0"/>
            </a:xfrm>
            <a:prstGeom prst="line">
              <a:avLst/>
            </a:prstGeom>
            <a:ln w="19050">
              <a:solidFill>
                <a:srgbClr val="EF3E5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/>
            <p:cNvGrpSpPr/>
            <p:nvPr/>
          </p:nvGrpSpPr>
          <p:grpSpPr>
            <a:xfrm>
              <a:off x="266318" y="155961"/>
              <a:ext cx="675736" cy="155276"/>
              <a:chOff x="2104845" y="1173192"/>
              <a:chExt cx="675736" cy="155276"/>
            </a:xfrm>
          </p:grpSpPr>
          <p:sp>
            <p:nvSpPr>
              <p:cNvPr id="14" name="Oval 13"/>
              <p:cNvSpPr/>
              <p:nvPr/>
            </p:nvSpPr>
            <p:spPr>
              <a:xfrm>
                <a:off x="2104845" y="1173192"/>
                <a:ext cx="163902" cy="155276"/>
              </a:xfrm>
              <a:prstGeom prst="ellipse">
                <a:avLst/>
              </a:prstGeom>
              <a:solidFill>
                <a:srgbClr val="FFFAEC"/>
              </a:solidFill>
              <a:ln>
                <a:solidFill>
                  <a:srgbClr val="FFFA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2360762" y="1173192"/>
                <a:ext cx="163902" cy="155276"/>
              </a:xfrm>
              <a:prstGeom prst="ellipse">
                <a:avLst/>
              </a:prstGeom>
              <a:solidFill>
                <a:srgbClr val="FFECFF"/>
              </a:solidFill>
              <a:ln>
                <a:solidFill>
                  <a:srgbClr val="FFEC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2616679" y="1173192"/>
                <a:ext cx="163902" cy="155276"/>
              </a:xfrm>
              <a:prstGeom prst="ellipse">
                <a:avLst/>
              </a:prstGeom>
              <a:solidFill>
                <a:srgbClr val="67F2F2">
                  <a:alpha val="50000"/>
                </a:srgbClr>
              </a:solidFill>
              <a:ln>
                <a:solidFill>
                  <a:srgbClr val="67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8221" y="127894"/>
            <a:ext cx="498672" cy="25831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56554" y="1452231"/>
            <a:ext cx="82305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/>
              <a:t>QUEM SOU EU </a:t>
            </a:r>
          </a:p>
          <a:p>
            <a:endParaRPr lang="pt-BR" sz="1400" dirty="0"/>
          </a:p>
          <a:p>
            <a:r>
              <a:rPr lang="pt-BR" sz="1400" dirty="0" smtClean="0"/>
              <a:t>30 anos, e sou de Barra Mansa que fica na região Sul Fluminense. 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13569" y="2498221"/>
            <a:ext cx="82305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/>
              <a:t>HOBBIES</a:t>
            </a:r>
          </a:p>
          <a:p>
            <a:endParaRPr lang="pt-BR" sz="1400" dirty="0"/>
          </a:p>
          <a:p>
            <a:r>
              <a:rPr lang="pt-BR" sz="1400" dirty="0" smtClean="0"/>
              <a:t>Cozinhar, assistir séries (grande fã de Greys Anatomy), bordado!</a:t>
            </a:r>
            <a:endParaRPr lang="pt-BR" sz="1400" dirty="0"/>
          </a:p>
        </p:txBody>
      </p:sp>
      <p:grpSp>
        <p:nvGrpSpPr>
          <p:cNvPr id="46" name="Group 45"/>
          <p:cNvGrpSpPr/>
          <p:nvPr/>
        </p:nvGrpSpPr>
        <p:grpSpPr>
          <a:xfrm>
            <a:off x="1194132" y="1149793"/>
            <a:ext cx="9547754" cy="4436099"/>
            <a:chOff x="686137" y="780341"/>
            <a:chExt cx="9547754" cy="4436099"/>
          </a:xfrm>
        </p:grpSpPr>
        <p:sp>
          <p:nvSpPr>
            <p:cNvPr id="19" name="Rounded Rectangle 18"/>
            <p:cNvSpPr/>
            <p:nvPr/>
          </p:nvSpPr>
          <p:spPr>
            <a:xfrm>
              <a:off x="686137" y="780855"/>
              <a:ext cx="2137532" cy="2011537"/>
            </a:xfrm>
            <a:prstGeom prst="roundRect">
              <a:avLst/>
            </a:prstGeom>
            <a:solidFill>
              <a:srgbClr val="FFCCFF">
                <a:alpha val="37000"/>
              </a:srgbClr>
            </a:solidFill>
            <a:ln>
              <a:solidFill>
                <a:srgbClr val="FF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362" y="780341"/>
              <a:ext cx="1849081" cy="2012051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2361489" y="4046889"/>
              <a:ext cx="205349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 smtClean="0"/>
                <a:t>2019:</a:t>
              </a:r>
            </a:p>
            <a:p>
              <a:pPr algn="ctr"/>
              <a:r>
                <a:rPr lang="pt-BR" sz="1400" dirty="0" smtClean="0"/>
                <a:t>Graduação em Física Computacional pela Universidade Federal Fluminense (UFF). </a:t>
              </a:r>
            </a:p>
          </p:txBody>
        </p:sp>
        <p:cxnSp>
          <p:nvCxnSpPr>
            <p:cNvPr id="22" name="Straight Connector 21"/>
            <p:cNvCxnSpPr>
              <a:stCxn id="20" idx="2"/>
            </p:cNvCxnSpPr>
            <p:nvPr/>
          </p:nvCxnSpPr>
          <p:spPr>
            <a:xfrm flipH="1">
              <a:off x="1754902" y="2792392"/>
              <a:ext cx="1" cy="1068407"/>
            </a:xfrm>
            <a:prstGeom prst="line">
              <a:avLst/>
            </a:prstGeom>
            <a:ln w="38100">
              <a:solidFill>
                <a:srgbClr val="FFECFF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1754902" y="3874294"/>
              <a:ext cx="8478989" cy="36945"/>
            </a:xfrm>
            <a:prstGeom prst="line">
              <a:avLst/>
            </a:prstGeom>
            <a:ln w="38100">
              <a:solidFill>
                <a:srgbClr val="FFECFF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/>
            <p:cNvSpPr/>
            <p:nvPr/>
          </p:nvSpPr>
          <p:spPr>
            <a:xfrm>
              <a:off x="3685503" y="1075759"/>
              <a:ext cx="1246716" cy="333180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37000"/>
              </a:schemeClr>
            </a:solidFill>
            <a:ln>
              <a:solidFill>
                <a:schemeClr val="accent1">
                  <a:shade val="50000"/>
                  <a:alpha val="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189580" y="4046888"/>
              <a:ext cx="2017472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400" b="1" dirty="0"/>
                <a:t>2023: </a:t>
              </a:r>
              <a:endParaRPr lang="pt-BR" sz="1400" b="1" dirty="0" smtClean="0"/>
            </a:p>
            <a:p>
              <a:pPr algn="ctr"/>
              <a:r>
                <a:rPr lang="pt-BR" sz="1400" dirty="0" smtClean="0"/>
                <a:t>Mestrado </a:t>
              </a:r>
              <a:r>
                <a:rPr lang="pt-BR" sz="1400" dirty="0"/>
                <a:t>em Física Computacional pela Instituto de Física de São Carlos (IFSC/USP</a:t>
              </a:r>
              <a:r>
                <a:rPr lang="pt-BR" sz="1400" dirty="0" smtClean="0"/>
                <a:t>).</a:t>
              </a:r>
              <a:endParaRPr lang="pt-BR" sz="1400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8167634" y="4046887"/>
              <a:ext cx="2066257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400" b="1" dirty="0"/>
                <a:t>2023/ATUALEMNTE: </a:t>
              </a:r>
            </a:p>
            <a:p>
              <a:pPr algn="ctr"/>
              <a:r>
                <a:rPr lang="pt-BR" sz="1400" dirty="0" smtClean="0"/>
                <a:t>Doutorado </a:t>
              </a:r>
              <a:r>
                <a:rPr lang="pt-BR" sz="1400" dirty="0"/>
                <a:t>em Física Computacional pela Instituto de Física de São Carlos (IFSC/USP). 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685503" y="2141847"/>
              <a:ext cx="1246716" cy="333180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37000"/>
              </a:schemeClr>
            </a:solidFill>
            <a:ln>
              <a:solidFill>
                <a:schemeClr val="accent1">
                  <a:shade val="50000"/>
                  <a:alpha val="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43" name="Picture 4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26918" y="3713597"/>
              <a:ext cx="359913" cy="359913"/>
            </a:xfrm>
            <a:prstGeom prst="rect">
              <a:avLst/>
            </a:prstGeom>
          </p:spPr>
        </p:pic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5289" y="3712810"/>
              <a:ext cx="359913" cy="359913"/>
            </a:xfrm>
            <a:prstGeom prst="rect">
              <a:avLst/>
            </a:prstGeom>
          </p:spPr>
        </p:pic>
        <p:pic>
          <p:nvPicPr>
            <p:cNvPr id="45" name="Picture 4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37431" y="3722320"/>
              <a:ext cx="359913" cy="3599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11462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22988" y="74487"/>
            <a:ext cx="293077" cy="365125"/>
          </a:xfrm>
        </p:spPr>
        <p:txBody>
          <a:bodyPr/>
          <a:lstStyle/>
          <a:p>
            <a:fld id="{CC0DFF91-5045-4B79-8625-7B2EAF077CB3}" type="slidenum">
              <a:rPr lang="pt-BR" smtClean="0">
                <a:solidFill>
                  <a:srgbClr val="EF3E58"/>
                </a:solidFill>
              </a:rPr>
              <a:t>3</a:t>
            </a:fld>
            <a:endParaRPr lang="pt-BR" dirty="0">
              <a:solidFill>
                <a:srgbClr val="EF3E58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20770" y="86264"/>
            <a:ext cx="11895826" cy="6573329"/>
            <a:chOff x="120770" y="86264"/>
            <a:chExt cx="11895826" cy="6573329"/>
          </a:xfrm>
        </p:grpSpPr>
        <p:sp>
          <p:nvSpPr>
            <p:cNvPr id="11" name="Rectangle 10"/>
            <p:cNvSpPr/>
            <p:nvPr/>
          </p:nvSpPr>
          <p:spPr>
            <a:xfrm>
              <a:off x="120770" y="86264"/>
              <a:ext cx="11895826" cy="6573329"/>
            </a:xfrm>
            <a:prstGeom prst="rect">
              <a:avLst/>
            </a:prstGeom>
            <a:noFill/>
            <a:ln w="19050">
              <a:solidFill>
                <a:srgbClr val="EF3E5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120770" y="424066"/>
              <a:ext cx="11895826" cy="0"/>
            </a:xfrm>
            <a:prstGeom prst="line">
              <a:avLst/>
            </a:prstGeom>
            <a:ln w="19050">
              <a:solidFill>
                <a:srgbClr val="EF3E5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/>
            <p:cNvGrpSpPr/>
            <p:nvPr/>
          </p:nvGrpSpPr>
          <p:grpSpPr>
            <a:xfrm>
              <a:off x="266318" y="155961"/>
              <a:ext cx="675736" cy="155276"/>
              <a:chOff x="2104845" y="1173192"/>
              <a:chExt cx="675736" cy="155276"/>
            </a:xfrm>
          </p:grpSpPr>
          <p:sp>
            <p:nvSpPr>
              <p:cNvPr id="14" name="Oval 13"/>
              <p:cNvSpPr/>
              <p:nvPr/>
            </p:nvSpPr>
            <p:spPr>
              <a:xfrm>
                <a:off x="2104845" y="1173192"/>
                <a:ext cx="163902" cy="155276"/>
              </a:xfrm>
              <a:prstGeom prst="ellipse">
                <a:avLst/>
              </a:prstGeom>
              <a:solidFill>
                <a:srgbClr val="FFFAEC"/>
              </a:solidFill>
              <a:ln>
                <a:solidFill>
                  <a:srgbClr val="FFFA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2360762" y="1173192"/>
                <a:ext cx="163902" cy="155276"/>
              </a:xfrm>
              <a:prstGeom prst="ellipse">
                <a:avLst/>
              </a:prstGeom>
              <a:solidFill>
                <a:srgbClr val="FFECFF"/>
              </a:solidFill>
              <a:ln>
                <a:solidFill>
                  <a:srgbClr val="FFEC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2616679" y="1173192"/>
                <a:ext cx="163902" cy="155276"/>
              </a:xfrm>
              <a:prstGeom prst="ellipse">
                <a:avLst/>
              </a:prstGeom>
              <a:solidFill>
                <a:srgbClr val="67F2F2">
                  <a:alpha val="50000"/>
                </a:srgbClr>
              </a:solidFill>
              <a:ln>
                <a:solidFill>
                  <a:srgbClr val="67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8221" y="127894"/>
            <a:ext cx="498672" cy="25831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56554" y="1452231"/>
            <a:ext cx="82305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/>
              <a:t>QUEM SOU EU </a:t>
            </a:r>
          </a:p>
          <a:p>
            <a:endParaRPr lang="pt-BR" sz="1400" dirty="0"/>
          </a:p>
          <a:p>
            <a:r>
              <a:rPr lang="pt-BR" sz="1400" dirty="0" smtClean="0"/>
              <a:t>30 anos, e sou de Barra Mansa que fica na região Sul Fluminense. 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13569" y="2498221"/>
            <a:ext cx="82305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/>
              <a:t>HOBBIES</a:t>
            </a:r>
          </a:p>
          <a:p>
            <a:endParaRPr lang="pt-BR" sz="1400" dirty="0"/>
          </a:p>
          <a:p>
            <a:r>
              <a:rPr lang="pt-BR" sz="1400" dirty="0" smtClean="0"/>
              <a:t>Cozinhar, assistir séries (grande fã de Greys Anatomy), bordado!</a:t>
            </a:r>
            <a:endParaRPr lang="pt-BR" sz="1400" dirty="0"/>
          </a:p>
        </p:txBody>
      </p:sp>
      <p:sp>
        <p:nvSpPr>
          <p:cNvPr id="19" name="Rounded Rectangle 18"/>
          <p:cNvSpPr/>
          <p:nvPr/>
        </p:nvSpPr>
        <p:spPr>
          <a:xfrm>
            <a:off x="1194132" y="1150307"/>
            <a:ext cx="2137532" cy="2011537"/>
          </a:xfrm>
          <a:prstGeom prst="roundRect">
            <a:avLst/>
          </a:prstGeom>
          <a:solidFill>
            <a:srgbClr val="FFCCFF">
              <a:alpha val="37000"/>
            </a:srgbClr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357" y="1149793"/>
            <a:ext cx="1849081" cy="201205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869484" y="4416341"/>
            <a:ext cx="205349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 smtClean="0"/>
              <a:t>2019:</a:t>
            </a:r>
          </a:p>
          <a:p>
            <a:pPr algn="ctr"/>
            <a:r>
              <a:rPr lang="pt-BR" sz="1400" dirty="0" smtClean="0"/>
              <a:t>Graduação em Física Computacional pela Universidade Federal Fluminense (UFF). </a:t>
            </a:r>
          </a:p>
        </p:txBody>
      </p:sp>
      <p:cxnSp>
        <p:nvCxnSpPr>
          <p:cNvPr id="22" name="Straight Connector 21"/>
          <p:cNvCxnSpPr>
            <a:stCxn id="20" idx="2"/>
          </p:cNvCxnSpPr>
          <p:nvPr/>
        </p:nvCxnSpPr>
        <p:spPr>
          <a:xfrm flipH="1">
            <a:off x="2262897" y="3161844"/>
            <a:ext cx="1" cy="1068407"/>
          </a:xfrm>
          <a:prstGeom prst="line">
            <a:avLst/>
          </a:prstGeom>
          <a:ln w="38100">
            <a:solidFill>
              <a:srgbClr val="FFECFF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2262897" y="4243746"/>
            <a:ext cx="8478989" cy="36945"/>
          </a:xfrm>
          <a:prstGeom prst="line">
            <a:avLst/>
          </a:prstGeom>
          <a:ln w="38100">
            <a:solidFill>
              <a:srgbClr val="FFECFF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4193498" y="1445211"/>
            <a:ext cx="1246716" cy="333180"/>
          </a:xfrm>
          <a:prstGeom prst="rect">
            <a:avLst/>
          </a:prstGeom>
          <a:solidFill>
            <a:schemeClr val="accent4">
              <a:lumMod val="20000"/>
              <a:lumOff val="80000"/>
              <a:alpha val="37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ctangle 36"/>
          <p:cNvSpPr/>
          <p:nvPr/>
        </p:nvSpPr>
        <p:spPr>
          <a:xfrm>
            <a:off x="5697575" y="4416340"/>
            <a:ext cx="201747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400" b="1" dirty="0"/>
              <a:t>2023: </a:t>
            </a:r>
            <a:endParaRPr lang="pt-BR" sz="1400" b="1" dirty="0" smtClean="0"/>
          </a:p>
          <a:p>
            <a:pPr algn="ctr"/>
            <a:r>
              <a:rPr lang="pt-BR" sz="1400" dirty="0" smtClean="0"/>
              <a:t>Mestrado </a:t>
            </a:r>
            <a:r>
              <a:rPr lang="pt-BR" sz="1400" dirty="0"/>
              <a:t>em Física Computacional pela Instituto de Física de São Carlos (IFSC/USP</a:t>
            </a:r>
            <a:r>
              <a:rPr lang="pt-BR" sz="1400" dirty="0" smtClean="0"/>
              <a:t>).</a:t>
            </a:r>
            <a:endParaRPr lang="pt-BR" sz="1400" dirty="0"/>
          </a:p>
        </p:txBody>
      </p:sp>
      <p:sp>
        <p:nvSpPr>
          <p:cNvPr id="40" name="Rectangle 39"/>
          <p:cNvSpPr/>
          <p:nvPr/>
        </p:nvSpPr>
        <p:spPr>
          <a:xfrm>
            <a:off x="8675629" y="4416339"/>
            <a:ext cx="2066257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400" b="1" dirty="0"/>
              <a:t>2023/ATUALEMNTE: </a:t>
            </a:r>
          </a:p>
          <a:p>
            <a:pPr algn="ctr"/>
            <a:r>
              <a:rPr lang="pt-BR" sz="1400" dirty="0" smtClean="0"/>
              <a:t>Doutorado </a:t>
            </a:r>
            <a:r>
              <a:rPr lang="pt-BR" sz="1400" dirty="0"/>
              <a:t>em Física Computacional pela Instituto de Física de São Carlos (IFSC/USP). 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93498" y="2511299"/>
            <a:ext cx="1246716" cy="333180"/>
          </a:xfrm>
          <a:prstGeom prst="rect">
            <a:avLst/>
          </a:prstGeom>
          <a:solidFill>
            <a:schemeClr val="accent4">
              <a:lumMod val="20000"/>
              <a:lumOff val="80000"/>
              <a:alpha val="37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913" y="4083049"/>
            <a:ext cx="359913" cy="359913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284" y="4082262"/>
            <a:ext cx="359913" cy="359913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5426" y="4091772"/>
            <a:ext cx="359913" cy="359913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8254124" y="2939617"/>
            <a:ext cx="779040" cy="333180"/>
          </a:xfrm>
          <a:prstGeom prst="rect">
            <a:avLst/>
          </a:prstGeom>
          <a:solidFill>
            <a:srgbClr val="FFECFF">
              <a:alpha val="37000"/>
            </a:srgbClr>
          </a:solidFill>
          <a:ln>
            <a:solidFill>
              <a:srgbClr val="FFEC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117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517086" y="74487"/>
            <a:ext cx="398979" cy="365125"/>
          </a:xfrm>
        </p:spPr>
        <p:txBody>
          <a:bodyPr/>
          <a:lstStyle/>
          <a:p>
            <a:fld id="{CC0DFF91-5045-4B79-8625-7B2EAF077CB3}" type="slidenum">
              <a:rPr lang="pt-BR" smtClean="0">
                <a:solidFill>
                  <a:srgbClr val="EF3E58"/>
                </a:solidFill>
              </a:rPr>
              <a:t>4</a:t>
            </a:fld>
            <a:endParaRPr lang="pt-BR" dirty="0">
              <a:solidFill>
                <a:srgbClr val="EF3E58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20770" y="86264"/>
            <a:ext cx="11895826" cy="6573329"/>
            <a:chOff x="120770" y="86264"/>
            <a:chExt cx="11895826" cy="6573329"/>
          </a:xfrm>
        </p:grpSpPr>
        <p:sp>
          <p:nvSpPr>
            <p:cNvPr id="11" name="Rectangle 10"/>
            <p:cNvSpPr/>
            <p:nvPr/>
          </p:nvSpPr>
          <p:spPr>
            <a:xfrm>
              <a:off x="120770" y="86264"/>
              <a:ext cx="11895826" cy="6573329"/>
            </a:xfrm>
            <a:prstGeom prst="rect">
              <a:avLst/>
            </a:prstGeom>
            <a:noFill/>
            <a:ln w="19050">
              <a:solidFill>
                <a:srgbClr val="EF3E5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120770" y="424066"/>
              <a:ext cx="11895826" cy="0"/>
            </a:xfrm>
            <a:prstGeom prst="line">
              <a:avLst/>
            </a:prstGeom>
            <a:ln w="19050">
              <a:solidFill>
                <a:srgbClr val="EF3E5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/>
            <p:cNvGrpSpPr/>
            <p:nvPr/>
          </p:nvGrpSpPr>
          <p:grpSpPr>
            <a:xfrm>
              <a:off x="266318" y="155961"/>
              <a:ext cx="675736" cy="155276"/>
              <a:chOff x="2104845" y="1173192"/>
              <a:chExt cx="675736" cy="155276"/>
            </a:xfrm>
          </p:grpSpPr>
          <p:sp>
            <p:nvSpPr>
              <p:cNvPr id="14" name="Oval 13"/>
              <p:cNvSpPr/>
              <p:nvPr/>
            </p:nvSpPr>
            <p:spPr>
              <a:xfrm>
                <a:off x="2104845" y="1173192"/>
                <a:ext cx="163902" cy="155276"/>
              </a:xfrm>
              <a:prstGeom prst="ellipse">
                <a:avLst/>
              </a:prstGeom>
              <a:solidFill>
                <a:srgbClr val="FFFAEC"/>
              </a:solidFill>
              <a:ln>
                <a:solidFill>
                  <a:srgbClr val="FFFA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2360762" y="1173192"/>
                <a:ext cx="163902" cy="155276"/>
              </a:xfrm>
              <a:prstGeom prst="ellipse">
                <a:avLst/>
              </a:prstGeom>
              <a:solidFill>
                <a:srgbClr val="FFECFF"/>
              </a:solidFill>
              <a:ln>
                <a:solidFill>
                  <a:srgbClr val="FFEC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2616679" y="1173192"/>
                <a:ext cx="163902" cy="155276"/>
              </a:xfrm>
              <a:prstGeom prst="ellipse">
                <a:avLst/>
              </a:prstGeom>
              <a:solidFill>
                <a:srgbClr val="67F2F2">
                  <a:alpha val="50000"/>
                </a:srgbClr>
              </a:solidFill>
              <a:ln>
                <a:solidFill>
                  <a:srgbClr val="67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475" y="127894"/>
            <a:ext cx="498672" cy="258312"/>
          </a:xfrm>
          <a:prstGeom prst="rect">
            <a:avLst/>
          </a:prstGeom>
        </p:spPr>
      </p:pic>
      <p:pic>
        <p:nvPicPr>
          <p:cNvPr id="1026" name="Picture 2" descr="This may contain: star wars pixel art is shown with different character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69" y="1376217"/>
            <a:ext cx="6139165" cy="408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22" b="13131"/>
          <a:stretch/>
        </p:blipFill>
        <p:spPr>
          <a:xfrm>
            <a:off x="6680265" y="856733"/>
            <a:ext cx="5143500" cy="512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993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517086" y="74487"/>
            <a:ext cx="398979" cy="365125"/>
          </a:xfrm>
        </p:spPr>
        <p:txBody>
          <a:bodyPr/>
          <a:lstStyle/>
          <a:p>
            <a:fld id="{CC0DFF91-5045-4B79-8625-7B2EAF077CB3}" type="slidenum">
              <a:rPr lang="pt-BR" smtClean="0">
                <a:solidFill>
                  <a:srgbClr val="EF3E58"/>
                </a:solidFill>
              </a:rPr>
              <a:t>5</a:t>
            </a:fld>
            <a:endParaRPr lang="pt-BR" dirty="0">
              <a:solidFill>
                <a:srgbClr val="EF3E58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20770" y="86264"/>
            <a:ext cx="11895826" cy="6573329"/>
            <a:chOff x="120770" y="86264"/>
            <a:chExt cx="11895826" cy="6573329"/>
          </a:xfrm>
        </p:grpSpPr>
        <p:sp>
          <p:nvSpPr>
            <p:cNvPr id="11" name="Rectangle 10"/>
            <p:cNvSpPr/>
            <p:nvPr/>
          </p:nvSpPr>
          <p:spPr>
            <a:xfrm>
              <a:off x="120770" y="86264"/>
              <a:ext cx="11895826" cy="6573329"/>
            </a:xfrm>
            <a:prstGeom prst="rect">
              <a:avLst/>
            </a:prstGeom>
            <a:noFill/>
            <a:ln w="19050">
              <a:solidFill>
                <a:srgbClr val="EF3E5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120770" y="424066"/>
              <a:ext cx="11895826" cy="0"/>
            </a:xfrm>
            <a:prstGeom prst="line">
              <a:avLst/>
            </a:prstGeom>
            <a:ln w="19050">
              <a:solidFill>
                <a:srgbClr val="EF3E5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/>
            <p:cNvGrpSpPr/>
            <p:nvPr/>
          </p:nvGrpSpPr>
          <p:grpSpPr>
            <a:xfrm>
              <a:off x="266318" y="155961"/>
              <a:ext cx="675736" cy="155276"/>
              <a:chOff x="2104845" y="1173192"/>
              <a:chExt cx="675736" cy="155276"/>
            </a:xfrm>
          </p:grpSpPr>
          <p:sp>
            <p:nvSpPr>
              <p:cNvPr id="14" name="Oval 13"/>
              <p:cNvSpPr/>
              <p:nvPr/>
            </p:nvSpPr>
            <p:spPr>
              <a:xfrm>
                <a:off x="2104845" y="1173192"/>
                <a:ext cx="163902" cy="155276"/>
              </a:xfrm>
              <a:prstGeom prst="ellipse">
                <a:avLst/>
              </a:prstGeom>
              <a:solidFill>
                <a:srgbClr val="FFFAEC"/>
              </a:solidFill>
              <a:ln>
                <a:solidFill>
                  <a:srgbClr val="FFFA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2360762" y="1173192"/>
                <a:ext cx="163902" cy="155276"/>
              </a:xfrm>
              <a:prstGeom prst="ellipse">
                <a:avLst/>
              </a:prstGeom>
              <a:solidFill>
                <a:srgbClr val="FFECFF"/>
              </a:solidFill>
              <a:ln>
                <a:solidFill>
                  <a:srgbClr val="FFEC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2616679" y="1173192"/>
                <a:ext cx="163902" cy="155276"/>
              </a:xfrm>
              <a:prstGeom prst="ellipse">
                <a:avLst/>
              </a:prstGeom>
              <a:solidFill>
                <a:srgbClr val="67F2F2">
                  <a:alpha val="50000"/>
                </a:srgbClr>
              </a:solidFill>
              <a:ln>
                <a:solidFill>
                  <a:srgbClr val="67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475" y="127894"/>
            <a:ext cx="498672" cy="25831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282" y="544277"/>
            <a:ext cx="8998281" cy="599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154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517086" y="74487"/>
            <a:ext cx="398979" cy="365125"/>
          </a:xfrm>
        </p:spPr>
        <p:txBody>
          <a:bodyPr/>
          <a:lstStyle/>
          <a:p>
            <a:fld id="{CC0DFF91-5045-4B79-8625-7B2EAF077CB3}" type="slidenum">
              <a:rPr lang="pt-BR" smtClean="0">
                <a:solidFill>
                  <a:srgbClr val="EF3E58"/>
                </a:solidFill>
              </a:rPr>
              <a:t>6</a:t>
            </a:fld>
            <a:endParaRPr lang="pt-BR" dirty="0">
              <a:solidFill>
                <a:srgbClr val="EF3E58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20770" y="86264"/>
            <a:ext cx="11895826" cy="6573329"/>
            <a:chOff x="120770" y="86264"/>
            <a:chExt cx="11895826" cy="6573329"/>
          </a:xfrm>
        </p:grpSpPr>
        <p:sp>
          <p:nvSpPr>
            <p:cNvPr id="11" name="Rectangle 10"/>
            <p:cNvSpPr/>
            <p:nvPr/>
          </p:nvSpPr>
          <p:spPr>
            <a:xfrm>
              <a:off x="120770" y="86264"/>
              <a:ext cx="11895826" cy="6573329"/>
            </a:xfrm>
            <a:prstGeom prst="rect">
              <a:avLst/>
            </a:prstGeom>
            <a:noFill/>
            <a:ln w="19050">
              <a:solidFill>
                <a:srgbClr val="EF3E5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120770" y="424066"/>
              <a:ext cx="11895826" cy="0"/>
            </a:xfrm>
            <a:prstGeom prst="line">
              <a:avLst/>
            </a:prstGeom>
            <a:ln w="19050">
              <a:solidFill>
                <a:srgbClr val="EF3E5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/>
            <p:cNvGrpSpPr/>
            <p:nvPr/>
          </p:nvGrpSpPr>
          <p:grpSpPr>
            <a:xfrm>
              <a:off x="266318" y="155961"/>
              <a:ext cx="675736" cy="155276"/>
              <a:chOff x="2104845" y="1173192"/>
              <a:chExt cx="675736" cy="155276"/>
            </a:xfrm>
          </p:grpSpPr>
          <p:sp>
            <p:nvSpPr>
              <p:cNvPr id="14" name="Oval 13"/>
              <p:cNvSpPr/>
              <p:nvPr/>
            </p:nvSpPr>
            <p:spPr>
              <a:xfrm>
                <a:off x="2104845" y="1173192"/>
                <a:ext cx="163902" cy="155276"/>
              </a:xfrm>
              <a:prstGeom prst="ellipse">
                <a:avLst/>
              </a:prstGeom>
              <a:solidFill>
                <a:srgbClr val="FFFAEC"/>
              </a:solidFill>
              <a:ln>
                <a:solidFill>
                  <a:srgbClr val="FFFA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2360762" y="1173192"/>
                <a:ext cx="163902" cy="155276"/>
              </a:xfrm>
              <a:prstGeom prst="ellipse">
                <a:avLst/>
              </a:prstGeom>
              <a:solidFill>
                <a:srgbClr val="FFECFF"/>
              </a:solidFill>
              <a:ln>
                <a:solidFill>
                  <a:srgbClr val="FFEC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2616679" y="1173192"/>
                <a:ext cx="163902" cy="155276"/>
              </a:xfrm>
              <a:prstGeom prst="ellipse">
                <a:avLst/>
              </a:prstGeom>
              <a:solidFill>
                <a:srgbClr val="67F2F2">
                  <a:alpha val="50000"/>
                </a:srgbClr>
              </a:solidFill>
              <a:ln>
                <a:solidFill>
                  <a:srgbClr val="67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475" y="127894"/>
            <a:ext cx="498672" cy="25831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61" b="2896"/>
          <a:stretch/>
        </p:blipFill>
        <p:spPr>
          <a:xfrm>
            <a:off x="1159164" y="992593"/>
            <a:ext cx="4572000" cy="5098474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906474" y="4890152"/>
            <a:ext cx="3726167" cy="1479290"/>
          </a:xfrm>
          <a:prstGeom prst="roundRect">
            <a:avLst/>
          </a:prstGeom>
          <a:solidFill>
            <a:srgbClr val="FEE599">
              <a:alpha val="37000"/>
            </a:srgbClr>
          </a:solidFill>
          <a:ln>
            <a:solidFill>
              <a:srgbClr val="FEE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455" y="4978213"/>
            <a:ext cx="1127601" cy="140300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37758" y="5368187"/>
            <a:ext cx="2502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/>
              <a:t>COMO FAZER ESSE </a:t>
            </a:r>
          </a:p>
          <a:p>
            <a:r>
              <a:rPr lang="pt-BR" sz="1400" b="1" dirty="0" smtClean="0"/>
              <a:t>BORDADO ??</a:t>
            </a:r>
          </a:p>
        </p:txBody>
      </p:sp>
    </p:spTree>
    <p:extLst>
      <p:ext uri="{BB962C8B-B14F-4D97-AF65-F5344CB8AC3E}">
        <p14:creationId xmlns:p14="http://schemas.microsoft.com/office/powerpoint/2010/main" val="2268837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517086" y="74487"/>
            <a:ext cx="398979" cy="365125"/>
          </a:xfrm>
        </p:spPr>
        <p:txBody>
          <a:bodyPr/>
          <a:lstStyle/>
          <a:p>
            <a:fld id="{CC0DFF91-5045-4B79-8625-7B2EAF077CB3}" type="slidenum">
              <a:rPr lang="pt-BR" smtClean="0">
                <a:solidFill>
                  <a:srgbClr val="EF3E58"/>
                </a:solidFill>
              </a:rPr>
              <a:t>7</a:t>
            </a:fld>
            <a:endParaRPr lang="pt-BR" dirty="0">
              <a:solidFill>
                <a:srgbClr val="EF3E58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20770" y="86264"/>
            <a:ext cx="11895826" cy="6573329"/>
            <a:chOff x="120770" y="86264"/>
            <a:chExt cx="11895826" cy="6573329"/>
          </a:xfrm>
        </p:grpSpPr>
        <p:sp>
          <p:nvSpPr>
            <p:cNvPr id="11" name="Rectangle 10"/>
            <p:cNvSpPr/>
            <p:nvPr/>
          </p:nvSpPr>
          <p:spPr>
            <a:xfrm>
              <a:off x="120770" y="86264"/>
              <a:ext cx="11895826" cy="6573329"/>
            </a:xfrm>
            <a:prstGeom prst="rect">
              <a:avLst/>
            </a:prstGeom>
            <a:noFill/>
            <a:ln w="19050">
              <a:solidFill>
                <a:srgbClr val="EF3E5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120770" y="424066"/>
              <a:ext cx="11895826" cy="0"/>
            </a:xfrm>
            <a:prstGeom prst="line">
              <a:avLst/>
            </a:prstGeom>
            <a:ln w="19050">
              <a:solidFill>
                <a:srgbClr val="EF3E5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/>
            <p:cNvGrpSpPr/>
            <p:nvPr/>
          </p:nvGrpSpPr>
          <p:grpSpPr>
            <a:xfrm>
              <a:off x="266318" y="155961"/>
              <a:ext cx="675736" cy="155276"/>
              <a:chOff x="2104845" y="1173192"/>
              <a:chExt cx="675736" cy="155276"/>
            </a:xfrm>
          </p:grpSpPr>
          <p:sp>
            <p:nvSpPr>
              <p:cNvPr id="14" name="Oval 13"/>
              <p:cNvSpPr/>
              <p:nvPr/>
            </p:nvSpPr>
            <p:spPr>
              <a:xfrm>
                <a:off x="2104845" y="1173192"/>
                <a:ext cx="163902" cy="155276"/>
              </a:xfrm>
              <a:prstGeom prst="ellipse">
                <a:avLst/>
              </a:prstGeom>
              <a:solidFill>
                <a:srgbClr val="FFFAEC"/>
              </a:solidFill>
              <a:ln>
                <a:solidFill>
                  <a:srgbClr val="FFFA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2360762" y="1173192"/>
                <a:ext cx="163902" cy="155276"/>
              </a:xfrm>
              <a:prstGeom prst="ellipse">
                <a:avLst/>
              </a:prstGeom>
              <a:solidFill>
                <a:srgbClr val="FFECFF"/>
              </a:solidFill>
              <a:ln>
                <a:solidFill>
                  <a:srgbClr val="FFEC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2616679" y="1173192"/>
                <a:ext cx="163902" cy="155276"/>
              </a:xfrm>
              <a:prstGeom prst="ellipse">
                <a:avLst/>
              </a:prstGeom>
              <a:solidFill>
                <a:srgbClr val="67F2F2">
                  <a:alpha val="50000"/>
                </a:srgbClr>
              </a:solidFill>
              <a:ln>
                <a:solidFill>
                  <a:srgbClr val="67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475" y="127894"/>
            <a:ext cx="498672" cy="25831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61" b="2896"/>
          <a:stretch/>
        </p:blipFill>
        <p:spPr>
          <a:xfrm>
            <a:off x="1159164" y="992593"/>
            <a:ext cx="4572000" cy="509847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453" y="1218765"/>
            <a:ext cx="4323783" cy="4019875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906474" y="4890152"/>
            <a:ext cx="3726167" cy="1479290"/>
          </a:xfrm>
          <a:prstGeom prst="roundRect">
            <a:avLst/>
          </a:prstGeom>
          <a:solidFill>
            <a:srgbClr val="FEE599">
              <a:alpha val="37000"/>
            </a:srgbClr>
          </a:solidFill>
          <a:ln>
            <a:solidFill>
              <a:srgbClr val="FEE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455" y="4978213"/>
            <a:ext cx="1127601" cy="140300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37758" y="5368187"/>
            <a:ext cx="2502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/>
              <a:t>COMO FAZER ESSE </a:t>
            </a:r>
          </a:p>
          <a:p>
            <a:r>
              <a:rPr lang="pt-BR" sz="1400" b="1" dirty="0" smtClean="0"/>
              <a:t>BORDADO ??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414" y="5620016"/>
            <a:ext cx="696977" cy="69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980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517086" y="74487"/>
            <a:ext cx="398979" cy="365125"/>
          </a:xfrm>
        </p:spPr>
        <p:txBody>
          <a:bodyPr/>
          <a:lstStyle/>
          <a:p>
            <a:fld id="{CC0DFF91-5045-4B79-8625-7B2EAF077CB3}" type="slidenum">
              <a:rPr lang="pt-BR" smtClean="0">
                <a:solidFill>
                  <a:srgbClr val="EF3E58"/>
                </a:solidFill>
              </a:rPr>
              <a:t>8</a:t>
            </a:fld>
            <a:endParaRPr lang="pt-BR" dirty="0">
              <a:solidFill>
                <a:srgbClr val="EF3E58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20770" y="86264"/>
            <a:ext cx="11895826" cy="6573329"/>
            <a:chOff x="120770" y="86264"/>
            <a:chExt cx="11895826" cy="6573329"/>
          </a:xfrm>
        </p:grpSpPr>
        <p:sp>
          <p:nvSpPr>
            <p:cNvPr id="11" name="Rectangle 10"/>
            <p:cNvSpPr/>
            <p:nvPr/>
          </p:nvSpPr>
          <p:spPr>
            <a:xfrm>
              <a:off x="120770" y="86264"/>
              <a:ext cx="11895826" cy="6573329"/>
            </a:xfrm>
            <a:prstGeom prst="rect">
              <a:avLst/>
            </a:prstGeom>
            <a:noFill/>
            <a:ln w="19050">
              <a:solidFill>
                <a:srgbClr val="EF3E5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120770" y="424066"/>
              <a:ext cx="11895826" cy="0"/>
            </a:xfrm>
            <a:prstGeom prst="line">
              <a:avLst/>
            </a:prstGeom>
            <a:ln w="19050">
              <a:solidFill>
                <a:srgbClr val="EF3E5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/>
            <p:cNvGrpSpPr/>
            <p:nvPr/>
          </p:nvGrpSpPr>
          <p:grpSpPr>
            <a:xfrm>
              <a:off x="266318" y="155961"/>
              <a:ext cx="675736" cy="155276"/>
              <a:chOff x="2104845" y="1173192"/>
              <a:chExt cx="675736" cy="155276"/>
            </a:xfrm>
          </p:grpSpPr>
          <p:sp>
            <p:nvSpPr>
              <p:cNvPr id="14" name="Oval 13"/>
              <p:cNvSpPr/>
              <p:nvPr/>
            </p:nvSpPr>
            <p:spPr>
              <a:xfrm>
                <a:off x="2104845" y="1173192"/>
                <a:ext cx="163902" cy="155276"/>
              </a:xfrm>
              <a:prstGeom prst="ellipse">
                <a:avLst/>
              </a:prstGeom>
              <a:solidFill>
                <a:srgbClr val="FFFAEC"/>
              </a:solidFill>
              <a:ln>
                <a:solidFill>
                  <a:srgbClr val="FFFA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2360762" y="1173192"/>
                <a:ext cx="163902" cy="155276"/>
              </a:xfrm>
              <a:prstGeom prst="ellipse">
                <a:avLst/>
              </a:prstGeom>
              <a:solidFill>
                <a:srgbClr val="FFECFF"/>
              </a:solidFill>
              <a:ln>
                <a:solidFill>
                  <a:srgbClr val="FFEC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2616679" y="1173192"/>
                <a:ext cx="163902" cy="155276"/>
              </a:xfrm>
              <a:prstGeom prst="ellipse">
                <a:avLst/>
              </a:prstGeom>
              <a:solidFill>
                <a:srgbClr val="67F2F2">
                  <a:alpha val="50000"/>
                </a:srgbClr>
              </a:solidFill>
              <a:ln>
                <a:solidFill>
                  <a:srgbClr val="67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475" y="127894"/>
            <a:ext cx="498672" cy="25831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3240914" y="2389886"/>
            <a:ext cx="5441268" cy="1954307"/>
          </a:xfrm>
          <a:prstGeom prst="roundRect">
            <a:avLst/>
          </a:prstGeom>
          <a:solidFill>
            <a:srgbClr val="FFCCFF">
              <a:alpha val="37000"/>
            </a:srgbClr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6177" y="2480717"/>
            <a:ext cx="1145359" cy="115029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385" y="2449830"/>
            <a:ext cx="1751749" cy="19061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9956" y="2788618"/>
            <a:ext cx="1228564" cy="122856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4552" y="2601240"/>
            <a:ext cx="1531598" cy="1531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604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517086" y="74487"/>
            <a:ext cx="398979" cy="365125"/>
          </a:xfrm>
        </p:spPr>
        <p:txBody>
          <a:bodyPr/>
          <a:lstStyle/>
          <a:p>
            <a:fld id="{CC0DFF91-5045-4B79-8625-7B2EAF077CB3}" type="slidenum">
              <a:rPr lang="pt-BR" smtClean="0">
                <a:solidFill>
                  <a:srgbClr val="EF3E58"/>
                </a:solidFill>
              </a:rPr>
              <a:t>9</a:t>
            </a:fld>
            <a:endParaRPr lang="pt-BR" dirty="0">
              <a:solidFill>
                <a:srgbClr val="EF3E58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20770" y="86264"/>
            <a:ext cx="11895826" cy="6573329"/>
            <a:chOff x="120770" y="86264"/>
            <a:chExt cx="11895826" cy="6573329"/>
          </a:xfrm>
        </p:grpSpPr>
        <p:sp>
          <p:nvSpPr>
            <p:cNvPr id="11" name="Rectangle 10"/>
            <p:cNvSpPr/>
            <p:nvPr/>
          </p:nvSpPr>
          <p:spPr>
            <a:xfrm>
              <a:off x="120770" y="86264"/>
              <a:ext cx="11895826" cy="6573329"/>
            </a:xfrm>
            <a:prstGeom prst="rect">
              <a:avLst/>
            </a:prstGeom>
            <a:noFill/>
            <a:ln w="19050">
              <a:solidFill>
                <a:srgbClr val="EF3E5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120770" y="424066"/>
              <a:ext cx="11895826" cy="0"/>
            </a:xfrm>
            <a:prstGeom prst="line">
              <a:avLst/>
            </a:prstGeom>
            <a:ln w="19050">
              <a:solidFill>
                <a:srgbClr val="EF3E5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/>
            <p:cNvGrpSpPr/>
            <p:nvPr/>
          </p:nvGrpSpPr>
          <p:grpSpPr>
            <a:xfrm>
              <a:off x="266318" y="155961"/>
              <a:ext cx="675736" cy="155276"/>
              <a:chOff x="2104845" y="1173192"/>
              <a:chExt cx="675736" cy="155276"/>
            </a:xfrm>
          </p:grpSpPr>
          <p:sp>
            <p:nvSpPr>
              <p:cNvPr id="14" name="Oval 13"/>
              <p:cNvSpPr/>
              <p:nvPr/>
            </p:nvSpPr>
            <p:spPr>
              <a:xfrm>
                <a:off x="2104845" y="1173192"/>
                <a:ext cx="163902" cy="155276"/>
              </a:xfrm>
              <a:prstGeom prst="ellipse">
                <a:avLst/>
              </a:prstGeom>
              <a:solidFill>
                <a:srgbClr val="FFFAEC"/>
              </a:solidFill>
              <a:ln>
                <a:solidFill>
                  <a:srgbClr val="FFFA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2360762" y="1173192"/>
                <a:ext cx="163902" cy="155276"/>
              </a:xfrm>
              <a:prstGeom prst="ellipse">
                <a:avLst/>
              </a:prstGeom>
              <a:solidFill>
                <a:srgbClr val="FFECFF"/>
              </a:solidFill>
              <a:ln>
                <a:solidFill>
                  <a:srgbClr val="FFEC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2616679" y="1173192"/>
                <a:ext cx="163902" cy="155276"/>
              </a:xfrm>
              <a:prstGeom prst="ellipse">
                <a:avLst/>
              </a:prstGeom>
              <a:solidFill>
                <a:srgbClr val="67F2F2">
                  <a:alpha val="50000"/>
                </a:srgbClr>
              </a:solidFill>
              <a:ln>
                <a:solidFill>
                  <a:srgbClr val="67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475" y="127894"/>
            <a:ext cx="498672" cy="258312"/>
          </a:xfrm>
          <a:prstGeom prst="rect">
            <a:avLst/>
          </a:prstGeom>
        </p:spPr>
      </p:pic>
      <p:grpSp>
        <p:nvGrpSpPr>
          <p:cNvPr id="53" name="Group 52"/>
          <p:cNvGrpSpPr/>
          <p:nvPr/>
        </p:nvGrpSpPr>
        <p:grpSpPr>
          <a:xfrm>
            <a:off x="860103" y="774170"/>
            <a:ext cx="3975873" cy="1170561"/>
            <a:chOff x="522235" y="1076419"/>
            <a:chExt cx="3975873" cy="1170561"/>
          </a:xfrm>
        </p:grpSpPr>
        <p:sp>
          <p:nvSpPr>
            <p:cNvPr id="18" name="Rounded Rectangle 17"/>
            <p:cNvSpPr/>
            <p:nvPr/>
          </p:nvSpPr>
          <p:spPr>
            <a:xfrm>
              <a:off x="522235" y="1076419"/>
              <a:ext cx="3975873" cy="1158784"/>
            </a:xfrm>
            <a:prstGeom prst="roundRect">
              <a:avLst/>
            </a:prstGeom>
            <a:solidFill>
              <a:srgbClr val="FFCCFF">
                <a:alpha val="37000"/>
              </a:srgbClr>
            </a:solidFill>
            <a:ln>
              <a:solidFill>
                <a:srgbClr val="FF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594687" y="1209474"/>
              <a:ext cx="25028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 smtClean="0"/>
                <a:t>CARREGAR A IMAGEM </a:t>
              </a:r>
              <a:endParaRPr lang="pt-BR" sz="1400" b="1" dirty="0" smtClean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486772" y="1529028"/>
              <a:ext cx="290342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 smtClean="0"/>
                <a:t>Carrega a imagem e transforma em RGB usando a biblioteca Pillow.</a:t>
              </a:r>
            </a:p>
          </p:txBody>
        </p:sp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047" y="1143831"/>
              <a:ext cx="1063751" cy="1103149"/>
            </a:xfrm>
            <a:prstGeom prst="rect">
              <a:avLst/>
            </a:prstGeom>
          </p:spPr>
        </p:pic>
      </p:grpSp>
      <p:grpSp>
        <p:nvGrpSpPr>
          <p:cNvPr id="52" name="Group 51"/>
          <p:cNvGrpSpPr/>
          <p:nvPr/>
        </p:nvGrpSpPr>
        <p:grpSpPr>
          <a:xfrm>
            <a:off x="565264" y="2515379"/>
            <a:ext cx="4590398" cy="1680309"/>
            <a:chOff x="5432833" y="945346"/>
            <a:chExt cx="4590398" cy="1680309"/>
          </a:xfrm>
        </p:grpSpPr>
        <p:sp>
          <p:nvSpPr>
            <p:cNvPr id="19" name="Rounded Rectangle 18"/>
            <p:cNvSpPr/>
            <p:nvPr/>
          </p:nvSpPr>
          <p:spPr>
            <a:xfrm>
              <a:off x="5432833" y="945346"/>
              <a:ext cx="4590398" cy="1680309"/>
            </a:xfrm>
            <a:prstGeom prst="roundRect">
              <a:avLst/>
            </a:prstGeom>
            <a:solidFill>
              <a:srgbClr val="FFCCFF">
                <a:alpha val="37000"/>
              </a:srgbClr>
            </a:solidFill>
            <a:ln>
              <a:solidFill>
                <a:srgbClr val="FF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572027" y="1037678"/>
              <a:ext cx="25028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 smtClean="0"/>
                <a:t>REDIMENSIONAR A IMAGEM </a:t>
              </a:r>
              <a:endParaRPr lang="pt-BR" sz="1400" b="1" dirty="0" smtClean="0"/>
            </a:p>
          </p:txBody>
        </p:sp>
        <p:grpSp>
          <p:nvGrpSpPr>
            <p:cNvPr id="51" name="Group 50"/>
            <p:cNvGrpSpPr/>
            <p:nvPr/>
          </p:nvGrpSpPr>
          <p:grpSpPr>
            <a:xfrm>
              <a:off x="8407462" y="945346"/>
              <a:ext cx="1608516" cy="1472211"/>
              <a:chOff x="7932834" y="983769"/>
              <a:chExt cx="1608516" cy="1472211"/>
            </a:xfrm>
          </p:grpSpPr>
          <p:grpSp>
            <p:nvGrpSpPr>
              <p:cNvPr id="47" name="Group 46"/>
              <p:cNvGrpSpPr/>
              <p:nvPr/>
            </p:nvGrpSpPr>
            <p:grpSpPr>
              <a:xfrm>
                <a:off x="7932834" y="1209437"/>
                <a:ext cx="1355555" cy="1246543"/>
                <a:chOff x="7932834" y="1209437"/>
                <a:chExt cx="1355555" cy="1246543"/>
              </a:xfrm>
            </p:grpSpPr>
            <p:pic>
              <p:nvPicPr>
                <p:cNvPr id="23" name="Picture 22"/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052849" y="1292968"/>
                  <a:ext cx="1063751" cy="1103149"/>
                </a:xfrm>
                <a:prstGeom prst="rect">
                  <a:avLst/>
                </a:prstGeom>
              </p:spPr>
            </p:pic>
            <p:sp>
              <p:nvSpPr>
                <p:cNvPr id="2" name="Rectangle 1"/>
                <p:cNvSpPr/>
                <p:nvPr/>
              </p:nvSpPr>
              <p:spPr>
                <a:xfrm>
                  <a:off x="7934036" y="1221252"/>
                  <a:ext cx="1348509" cy="1228872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cxnSp>
              <p:nvCxnSpPr>
                <p:cNvPr id="4" name="Straight Connector 3"/>
                <p:cNvCxnSpPr/>
                <p:nvPr/>
              </p:nvCxnSpPr>
              <p:spPr>
                <a:xfrm>
                  <a:off x="8052849" y="1215329"/>
                  <a:ext cx="0" cy="123479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/>
              </p:nvCxnSpPr>
              <p:spPr>
                <a:xfrm flipH="1">
                  <a:off x="8200292" y="1227051"/>
                  <a:ext cx="4957" cy="122307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/>
                <p:nvPr/>
              </p:nvCxnSpPr>
              <p:spPr>
                <a:xfrm flipH="1">
                  <a:off x="8346831" y="1227045"/>
                  <a:ext cx="16680" cy="122307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/>
                <p:cNvCxnSpPr/>
                <p:nvPr/>
              </p:nvCxnSpPr>
              <p:spPr>
                <a:xfrm flipH="1">
                  <a:off x="8499231" y="1215314"/>
                  <a:ext cx="22542" cy="123481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/>
                <p:nvPr/>
              </p:nvCxnSpPr>
              <p:spPr>
                <a:xfrm flipH="1">
                  <a:off x="8821615" y="1221165"/>
                  <a:ext cx="4958" cy="122895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/>
              </p:nvCxnSpPr>
              <p:spPr>
                <a:xfrm flipH="1">
                  <a:off x="8962292" y="1209437"/>
                  <a:ext cx="16681" cy="124068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/>
                <p:cNvCxnSpPr/>
                <p:nvPr/>
              </p:nvCxnSpPr>
              <p:spPr>
                <a:xfrm flipH="1">
                  <a:off x="9116600" y="1227018"/>
                  <a:ext cx="14773" cy="122310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/>
                <p:nvPr/>
              </p:nvCxnSpPr>
              <p:spPr>
                <a:xfrm flipH="1">
                  <a:off x="7938720" y="1363362"/>
                  <a:ext cx="1343825" cy="666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/>
                <p:cNvCxnSpPr/>
                <p:nvPr/>
              </p:nvCxnSpPr>
              <p:spPr>
                <a:xfrm flipH="1">
                  <a:off x="7938715" y="1515762"/>
                  <a:ext cx="1343825" cy="666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/>
                <p:cNvCxnSpPr/>
                <p:nvPr/>
              </p:nvCxnSpPr>
              <p:spPr>
                <a:xfrm flipH="1">
                  <a:off x="7938709" y="1674024"/>
                  <a:ext cx="1343825" cy="666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/>
              </p:nvCxnSpPr>
              <p:spPr>
                <a:xfrm flipH="1">
                  <a:off x="7944564" y="1826424"/>
                  <a:ext cx="1343825" cy="666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/>
              </p:nvCxnSpPr>
              <p:spPr>
                <a:xfrm flipH="1">
                  <a:off x="7938698" y="1984686"/>
                  <a:ext cx="1343825" cy="666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/>
                <p:cNvCxnSpPr/>
                <p:nvPr/>
              </p:nvCxnSpPr>
              <p:spPr>
                <a:xfrm flipH="1">
                  <a:off x="7932834" y="2137086"/>
                  <a:ext cx="1343825" cy="666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>
                <a:xfrm flipH="1">
                  <a:off x="7944552" y="2289486"/>
                  <a:ext cx="1343825" cy="666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>
                <a:xfrm flipH="1">
                  <a:off x="8651631" y="1221170"/>
                  <a:ext cx="22542" cy="123481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TextBox 47"/>
              <p:cNvSpPr txBox="1"/>
              <p:nvPr/>
            </p:nvSpPr>
            <p:spPr>
              <a:xfrm>
                <a:off x="8200292" y="983769"/>
                <a:ext cx="80457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 smtClean="0"/>
                  <a:t>Grid_size</a:t>
                </a:r>
                <a:endParaRPr lang="pt-BR" sz="1000" dirty="0" smtClean="0"/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 rot="5400000">
                <a:off x="9015953" y="1703314"/>
                <a:ext cx="80457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 smtClean="0"/>
                  <a:t>Grid_size</a:t>
                </a:r>
                <a:endParaRPr lang="pt-BR" sz="1000" dirty="0" smtClean="0"/>
              </a:p>
            </p:txBody>
          </p:sp>
        </p:grpSp>
      </p:grpSp>
      <p:sp>
        <p:nvSpPr>
          <p:cNvPr id="50" name="TextBox 49"/>
          <p:cNvSpPr txBox="1"/>
          <p:nvPr/>
        </p:nvSpPr>
        <p:spPr>
          <a:xfrm>
            <a:off x="420695" y="2973620"/>
            <a:ext cx="32434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 imagem é redimensionada proporcionalmente para caber no tamanho da grade </a:t>
            </a:r>
            <a:r>
              <a:rPr lang="pt-BR" sz="1400" dirty="0" smtClean="0"/>
              <a:t>usando </a:t>
            </a:r>
            <a:r>
              <a:rPr lang="pt-BR" sz="1400" dirty="0" smtClean="0"/>
              <a:t>a biblioteca Pillow.</a:t>
            </a:r>
          </a:p>
        </p:txBody>
      </p:sp>
      <p:grpSp>
        <p:nvGrpSpPr>
          <p:cNvPr id="87" name="Group 86"/>
          <p:cNvGrpSpPr/>
          <p:nvPr/>
        </p:nvGrpSpPr>
        <p:grpSpPr>
          <a:xfrm>
            <a:off x="579402" y="4752825"/>
            <a:ext cx="4590398" cy="1680309"/>
            <a:chOff x="429937" y="4216933"/>
            <a:chExt cx="4590398" cy="1680309"/>
          </a:xfrm>
        </p:grpSpPr>
        <p:grpSp>
          <p:nvGrpSpPr>
            <p:cNvPr id="85" name="Group 84"/>
            <p:cNvGrpSpPr/>
            <p:nvPr/>
          </p:nvGrpSpPr>
          <p:grpSpPr>
            <a:xfrm>
              <a:off x="429937" y="4216933"/>
              <a:ext cx="4590398" cy="1680309"/>
              <a:chOff x="429937" y="4216933"/>
              <a:chExt cx="4590398" cy="1680309"/>
            </a:xfrm>
          </p:grpSpPr>
          <p:sp>
            <p:nvSpPr>
              <p:cNvPr id="58" name="Rounded Rectangle 57"/>
              <p:cNvSpPr/>
              <p:nvPr/>
            </p:nvSpPr>
            <p:spPr>
              <a:xfrm>
                <a:off x="429937" y="4216933"/>
                <a:ext cx="4590398" cy="1680309"/>
              </a:xfrm>
              <a:prstGeom prst="roundRect">
                <a:avLst/>
              </a:prstGeom>
              <a:solidFill>
                <a:srgbClr val="FFCCFF">
                  <a:alpha val="37000"/>
                </a:srgbClr>
              </a:solidFill>
              <a:ln>
                <a:solidFill>
                  <a:srgbClr val="FFCC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716429" y="4363592"/>
                <a:ext cx="250286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 smtClean="0"/>
                  <a:t>DESENHAR PIXEL A PIXEL</a:t>
                </a:r>
                <a:endParaRPr lang="pt-BR" sz="1400" b="1" dirty="0" smtClean="0"/>
              </a:p>
            </p:txBody>
          </p:sp>
          <p:sp>
            <p:nvSpPr>
              <p:cNvPr id="83" name="Rectangle 82"/>
              <p:cNvSpPr/>
              <p:nvPr/>
            </p:nvSpPr>
            <p:spPr>
              <a:xfrm>
                <a:off x="604186" y="4717265"/>
                <a:ext cx="2680464" cy="9387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pt-BR" altLang="pt-BR" sz="1100" dirty="0">
                    <a:latin typeface="Arial" panose="020B0604020202020204" pitchFamily="34" charset="0"/>
                  </a:rPr>
                  <a:t>Cada pixel da imagem é convertido em uma pequena célula </a:t>
                </a:r>
                <a:r>
                  <a:rPr lang="pt-BR" altLang="pt-BR" sz="1100" dirty="0" smtClean="0">
                    <a:latin typeface="Arial" panose="020B0604020202020204" pitchFamily="34" charset="0"/>
                  </a:rPr>
                  <a:t>colorida. A </a:t>
                </a:r>
                <a:r>
                  <a:rPr lang="pt-BR" altLang="pt-BR" sz="1100" dirty="0">
                    <a:latin typeface="Arial" panose="020B0604020202020204" pitchFamily="34" charset="0"/>
                  </a:rPr>
                  <a:t>biblioteca Turtle move a “tartaruga” para a posição correta e desenha um quadrado colorido.</a:t>
                </a:r>
              </a:p>
            </p:txBody>
          </p:sp>
          <p:pic>
            <p:nvPicPr>
              <p:cNvPr id="84" name="Picture 83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87156" y="4472050"/>
                <a:ext cx="1138629" cy="1204245"/>
              </a:xfrm>
              <a:prstGeom prst="rect">
                <a:avLst/>
              </a:prstGeom>
            </p:spPr>
          </p:pic>
        </p:grpSp>
        <p:pic>
          <p:nvPicPr>
            <p:cNvPr id="86" name="Picture 8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70850" y="4329030"/>
              <a:ext cx="388235" cy="388235"/>
            </a:xfrm>
            <a:prstGeom prst="rect">
              <a:avLst/>
            </a:prstGeom>
          </p:spPr>
        </p:pic>
      </p:grpSp>
      <p:cxnSp>
        <p:nvCxnSpPr>
          <p:cNvPr id="116" name="Straight Arrow Connector 115"/>
          <p:cNvCxnSpPr>
            <a:stCxn id="18" idx="2"/>
            <a:endCxn id="19" idx="0"/>
          </p:cNvCxnSpPr>
          <p:nvPr/>
        </p:nvCxnSpPr>
        <p:spPr>
          <a:xfrm>
            <a:off x="2848040" y="1932954"/>
            <a:ext cx="12423" cy="582425"/>
          </a:xfrm>
          <a:prstGeom prst="straightConnector1">
            <a:avLst/>
          </a:prstGeom>
          <a:ln w="38100">
            <a:solidFill>
              <a:srgbClr val="FFEC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>
            <a:off x="2781365" y="4152279"/>
            <a:ext cx="12423" cy="582425"/>
          </a:xfrm>
          <a:prstGeom prst="straightConnector1">
            <a:avLst/>
          </a:prstGeom>
          <a:ln w="38100">
            <a:solidFill>
              <a:srgbClr val="FFEC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6857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517086" y="74487"/>
            <a:ext cx="398979" cy="365125"/>
          </a:xfrm>
        </p:spPr>
        <p:txBody>
          <a:bodyPr/>
          <a:lstStyle/>
          <a:p>
            <a:fld id="{CC0DFF91-5045-4B79-8625-7B2EAF077CB3}" type="slidenum">
              <a:rPr lang="pt-BR" smtClean="0">
                <a:solidFill>
                  <a:srgbClr val="EF3E58"/>
                </a:solidFill>
              </a:rPr>
              <a:t>10</a:t>
            </a:fld>
            <a:endParaRPr lang="pt-BR" dirty="0">
              <a:solidFill>
                <a:srgbClr val="EF3E58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20770" y="86264"/>
            <a:ext cx="11895826" cy="6573329"/>
            <a:chOff x="120770" y="86264"/>
            <a:chExt cx="11895826" cy="6573329"/>
          </a:xfrm>
        </p:grpSpPr>
        <p:sp>
          <p:nvSpPr>
            <p:cNvPr id="11" name="Rectangle 10"/>
            <p:cNvSpPr/>
            <p:nvPr/>
          </p:nvSpPr>
          <p:spPr>
            <a:xfrm>
              <a:off x="120770" y="86264"/>
              <a:ext cx="11895826" cy="6573329"/>
            </a:xfrm>
            <a:prstGeom prst="rect">
              <a:avLst/>
            </a:prstGeom>
            <a:noFill/>
            <a:ln w="19050">
              <a:solidFill>
                <a:srgbClr val="EF3E5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120770" y="424066"/>
              <a:ext cx="11895826" cy="0"/>
            </a:xfrm>
            <a:prstGeom prst="line">
              <a:avLst/>
            </a:prstGeom>
            <a:ln w="19050">
              <a:solidFill>
                <a:srgbClr val="EF3E5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/>
            <p:cNvGrpSpPr/>
            <p:nvPr/>
          </p:nvGrpSpPr>
          <p:grpSpPr>
            <a:xfrm>
              <a:off x="266318" y="155961"/>
              <a:ext cx="675736" cy="155276"/>
              <a:chOff x="2104845" y="1173192"/>
              <a:chExt cx="675736" cy="155276"/>
            </a:xfrm>
          </p:grpSpPr>
          <p:sp>
            <p:nvSpPr>
              <p:cNvPr id="14" name="Oval 13"/>
              <p:cNvSpPr/>
              <p:nvPr/>
            </p:nvSpPr>
            <p:spPr>
              <a:xfrm>
                <a:off x="2104845" y="1173192"/>
                <a:ext cx="163902" cy="155276"/>
              </a:xfrm>
              <a:prstGeom prst="ellipse">
                <a:avLst/>
              </a:prstGeom>
              <a:solidFill>
                <a:srgbClr val="FFFAEC"/>
              </a:solidFill>
              <a:ln>
                <a:solidFill>
                  <a:srgbClr val="FFFA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2360762" y="1173192"/>
                <a:ext cx="163902" cy="155276"/>
              </a:xfrm>
              <a:prstGeom prst="ellipse">
                <a:avLst/>
              </a:prstGeom>
              <a:solidFill>
                <a:srgbClr val="FFECFF"/>
              </a:solidFill>
              <a:ln>
                <a:solidFill>
                  <a:srgbClr val="FFEC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2616679" y="1173192"/>
                <a:ext cx="163902" cy="155276"/>
              </a:xfrm>
              <a:prstGeom prst="ellipse">
                <a:avLst/>
              </a:prstGeom>
              <a:solidFill>
                <a:srgbClr val="67F2F2">
                  <a:alpha val="50000"/>
                </a:srgbClr>
              </a:solidFill>
              <a:ln>
                <a:solidFill>
                  <a:srgbClr val="67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475" y="127894"/>
            <a:ext cx="498672" cy="258312"/>
          </a:xfrm>
          <a:prstGeom prst="rect">
            <a:avLst/>
          </a:prstGeom>
        </p:spPr>
      </p:pic>
      <p:grpSp>
        <p:nvGrpSpPr>
          <p:cNvPr id="53" name="Group 52"/>
          <p:cNvGrpSpPr/>
          <p:nvPr/>
        </p:nvGrpSpPr>
        <p:grpSpPr>
          <a:xfrm>
            <a:off x="860103" y="774170"/>
            <a:ext cx="3975873" cy="1170561"/>
            <a:chOff x="522235" y="1076419"/>
            <a:chExt cx="3975873" cy="1170561"/>
          </a:xfrm>
        </p:grpSpPr>
        <p:sp>
          <p:nvSpPr>
            <p:cNvPr id="18" name="Rounded Rectangle 17"/>
            <p:cNvSpPr/>
            <p:nvPr/>
          </p:nvSpPr>
          <p:spPr>
            <a:xfrm>
              <a:off x="522235" y="1076419"/>
              <a:ext cx="3975873" cy="1158784"/>
            </a:xfrm>
            <a:prstGeom prst="roundRect">
              <a:avLst/>
            </a:prstGeom>
            <a:solidFill>
              <a:srgbClr val="FFCCFF">
                <a:alpha val="37000"/>
              </a:srgbClr>
            </a:solidFill>
            <a:ln>
              <a:solidFill>
                <a:srgbClr val="FF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594687" y="1209474"/>
              <a:ext cx="25028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 smtClean="0"/>
                <a:t>CARREGAR A IMAGEM </a:t>
              </a:r>
              <a:endParaRPr lang="pt-BR" sz="1400" b="1" dirty="0" smtClean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486772" y="1529028"/>
              <a:ext cx="290342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 smtClean="0"/>
                <a:t>Carrega a imagem e transforma em RGB usando a biblioteca Pillow.</a:t>
              </a:r>
            </a:p>
          </p:txBody>
        </p:sp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047" y="1143831"/>
              <a:ext cx="1063751" cy="1103149"/>
            </a:xfrm>
            <a:prstGeom prst="rect">
              <a:avLst/>
            </a:prstGeom>
          </p:spPr>
        </p:pic>
      </p:grpSp>
      <p:grpSp>
        <p:nvGrpSpPr>
          <p:cNvPr id="52" name="Group 51"/>
          <p:cNvGrpSpPr/>
          <p:nvPr/>
        </p:nvGrpSpPr>
        <p:grpSpPr>
          <a:xfrm>
            <a:off x="565264" y="2515379"/>
            <a:ext cx="4590398" cy="1680309"/>
            <a:chOff x="5432833" y="945346"/>
            <a:chExt cx="4590398" cy="1680309"/>
          </a:xfrm>
        </p:grpSpPr>
        <p:sp>
          <p:nvSpPr>
            <p:cNvPr id="19" name="Rounded Rectangle 18"/>
            <p:cNvSpPr/>
            <p:nvPr/>
          </p:nvSpPr>
          <p:spPr>
            <a:xfrm>
              <a:off x="5432833" y="945346"/>
              <a:ext cx="4590398" cy="1680309"/>
            </a:xfrm>
            <a:prstGeom prst="roundRect">
              <a:avLst/>
            </a:prstGeom>
            <a:solidFill>
              <a:srgbClr val="FFCCFF">
                <a:alpha val="37000"/>
              </a:srgbClr>
            </a:solidFill>
            <a:ln>
              <a:solidFill>
                <a:srgbClr val="FF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572027" y="1037678"/>
              <a:ext cx="25028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 smtClean="0"/>
                <a:t>REDIMENSIONAR A IMAGEM </a:t>
              </a:r>
              <a:endParaRPr lang="pt-BR" sz="1400" b="1" dirty="0" smtClean="0"/>
            </a:p>
          </p:txBody>
        </p:sp>
        <p:grpSp>
          <p:nvGrpSpPr>
            <p:cNvPr id="51" name="Group 50"/>
            <p:cNvGrpSpPr/>
            <p:nvPr/>
          </p:nvGrpSpPr>
          <p:grpSpPr>
            <a:xfrm>
              <a:off x="8407462" y="945346"/>
              <a:ext cx="1608516" cy="1472211"/>
              <a:chOff x="7932834" y="983769"/>
              <a:chExt cx="1608516" cy="1472211"/>
            </a:xfrm>
          </p:grpSpPr>
          <p:grpSp>
            <p:nvGrpSpPr>
              <p:cNvPr id="47" name="Group 46"/>
              <p:cNvGrpSpPr/>
              <p:nvPr/>
            </p:nvGrpSpPr>
            <p:grpSpPr>
              <a:xfrm>
                <a:off x="7932834" y="1209437"/>
                <a:ext cx="1355555" cy="1246543"/>
                <a:chOff x="7932834" y="1209437"/>
                <a:chExt cx="1355555" cy="1246543"/>
              </a:xfrm>
            </p:grpSpPr>
            <p:pic>
              <p:nvPicPr>
                <p:cNvPr id="23" name="Picture 22"/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052849" y="1292968"/>
                  <a:ext cx="1063751" cy="1103149"/>
                </a:xfrm>
                <a:prstGeom prst="rect">
                  <a:avLst/>
                </a:prstGeom>
              </p:spPr>
            </p:pic>
            <p:sp>
              <p:nvSpPr>
                <p:cNvPr id="2" name="Rectangle 1"/>
                <p:cNvSpPr/>
                <p:nvPr/>
              </p:nvSpPr>
              <p:spPr>
                <a:xfrm>
                  <a:off x="7934036" y="1221252"/>
                  <a:ext cx="1348509" cy="1228872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cxnSp>
              <p:nvCxnSpPr>
                <p:cNvPr id="4" name="Straight Connector 3"/>
                <p:cNvCxnSpPr/>
                <p:nvPr/>
              </p:nvCxnSpPr>
              <p:spPr>
                <a:xfrm>
                  <a:off x="8052849" y="1215329"/>
                  <a:ext cx="0" cy="123479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/>
              </p:nvCxnSpPr>
              <p:spPr>
                <a:xfrm flipH="1">
                  <a:off x="8200292" y="1227051"/>
                  <a:ext cx="4957" cy="122307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/>
                <p:nvPr/>
              </p:nvCxnSpPr>
              <p:spPr>
                <a:xfrm flipH="1">
                  <a:off x="8346831" y="1227045"/>
                  <a:ext cx="16680" cy="122307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/>
                <p:cNvCxnSpPr/>
                <p:nvPr/>
              </p:nvCxnSpPr>
              <p:spPr>
                <a:xfrm flipH="1">
                  <a:off x="8499231" y="1215314"/>
                  <a:ext cx="22542" cy="123481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/>
                <p:nvPr/>
              </p:nvCxnSpPr>
              <p:spPr>
                <a:xfrm flipH="1">
                  <a:off x="8821615" y="1221165"/>
                  <a:ext cx="4958" cy="122895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/>
              </p:nvCxnSpPr>
              <p:spPr>
                <a:xfrm flipH="1">
                  <a:off x="8962292" y="1209437"/>
                  <a:ext cx="16681" cy="124068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/>
                <p:cNvCxnSpPr/>
                <p:nvPr/>
              </p:nvCxnSpPr>
              <p:spPr>
                <a:xfrm flipH="1">
                  <a:off x="9116600" y="1227018"/>
                  <a:ext cx="14773" cy="122310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/>
                <p:nvPr/>
              </p:nvCxnSpPr>
              <p:spPr>
                <a:xfrm flipH="1">
                  <a:off x="7938720" y="1363362"/>
                  <a:ext cx="1343825" cy="666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/>
                <p:cNvCxnSpPr/>
                <p:nvPr/>
              </p:nvCxnSpPr>
              <p:spPr>
                <a:xfrm flipH="1">
                  <a:off x="7938715" y="1515762"/>
                  <a:ext cx="1343825" cy="666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/>
                <p:cNvCxnSpPr/>
                <p:nvPr/>
              </p:nvCxnSpPr>
              <p:spPr>
                <a:xfrm flipH="1">
                  <a:off x="7938709" y="1674024"/>
                  <a:ext cx="1343825" cy="666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/>
              </p:nvCxnSpPr>
              <p:spPr>
                <a:xfrm flipH="1">
                  <a:off x="7944564" y="1826424"/>
                  <a:ext cx="1343825" cy="666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/>
              </p:nvCxnSpPr>
              <p:spPr>
                <a:xfrm flipH="1">
                  <a:off x="7938698" y="1984686"/>
                  <a:ext cx="1343825" cy="666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/>
                <p:cNvCxnSpPr/>
                <p:nvPr/>
              </p:nvCxnSpPr>
              <p:spPr>
                <a:xfrm flipH="1">
                  <a:off x="7932834" y="2137086"/>
                  <a:ext cx="1343825" cy="666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>
                <a:xfrm flipH="1">
                  <a:off x="7944552" y="2289486"/>
                  <a:ext cx="1343825" cy="666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>
                <a:xfrm flipH="1">
                  <a:off x="8651631" y="1221170"/>
                  <a:ext cx="22542" cy="123481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TextBox 47"/>
              <p:cNvSpPr txBox="1"/>
              <p:nvPr/>
            </p:nvSpPr>
            <p:spPr>
              <a:xfrm>
                <a:off x="8200292" y="983769"/>
                <a:ext cx="80457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 smtClean="0"/>
                  <a:t>Grid_size</a:t>
                </a:r>
                <a:endParaRPr lang="pt-BR" sz="1000" dirty="0" smtClean="0"/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 rot="5400000">
                <a:off x="9015953" y="1703314"/>
                <a:ext cx="80457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 smtClean="0"/>
                  <a:t>Grid_size</a:t>
                </a:r>
                <a:endParaRPr lang="pt-BR" sz="1000" dirty="0" smtClean="0"/>
              </a:p>
            </p:txBody>
          </p:sp>
        </p:grpSp>
      </p:grpSp>
      <p:sp>
        <p:nvSpPr>
          <p:cNvPr id="50" name="TextBox 49"/>
          <p:cNvSpPr txBox="1"/>
          <p:nvPr/>
        </p:nvSpPr>
        <p:spPr>
          <a:xfrm>
            <a:off x="420695" y="2973620"/>
            <a:ext cx="32434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 imagem é redimensionada proporcionalmente para caber no tamanho da grade </a:t>
            </a:r>
            <a:r>
              <a:rPr lang="pt-BR" sz="1400" dirty="0" smtClean="0"/>
              <a:t>usando </a:t>
            </a:r>
            <a:r>
              <a:rPr lang="pt-BR" sz="1400" dirty="0" smtClean="0"/>
              <a:t>a biblioteca Pillow.</a:t>
            </a:r>
          </a:p>
        </p:txBody>
      </p:sp>
      <p:grpSp>
        <p:nvGrpSpPr>
          <p:cNvPr id="87" name="Group 86"/>
          <p:cNvGrpSpPr/>
          <p:nvPr/>
        </p:nvGrpSpPr>
        <p:grpSpPr>
          <a:xfrm>
            <a:off x="579402" y="4752825"/>
            <a:ext cx="4590398" cy="1680309"/>
            <a:chOff x="429937" y="4216933"/>
            <a:chExt cx="4590398" cy="1680309"/>
          </a:xfrm>
        </p:grpSpPr>
        <p:grpSp>
          <p:nvGrpSpPr>
            <p:cNvPr id="85" name="Group 84"/>
            <p:cNvGrpSpPr/>
            <p:nvPr/>
          </p:nvGrpSpPr>
          <p:grpSpPr>
            <a:xfrm>
              <a:off x="429937" y="4216933"/>
              <a:ext cx="4590398" cy="1680309"/>
              <a:chOff x="429937" y="4216933"/>
              <a:chExt cx="4590398" cy="1680309"/>
            </a:xfrm>
          </p:grpSpPr>
          <p:sp>
            <p:nvSpPr>
              <p:cNvPr id="58" name="Rounded Rectangle 57"/>
              <p:cNvSpPr/>
              <p:nvPr/>
            </p:nvSpPr>
            <p:spPr>
              <a:xfrm>
                <a:off x="429937" y="4216933"/>
                <a:ext cx="4590398" cy="1680309"/>
              </a:xfrm>
              <a:prstGeom prst="roundRect">
                <a:avLst/>
              </a:prstGeom>
              <a:solidFill>
                <a:srgbClr val="FFCCFF">
                  <a:alpha val="37000"/>
                </a:srgbClr>
              </a:solidFill>
              <a:ln>
                <a:solidFill>
                  <a:srgbClr val="FFCC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716429" y="4363592"/>
                <a:ext cx="250286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 smtClean="0"/>
                  <a:t>DESENHAR PIXEL A PIXEL</a:t>
                </a:r>
                <a:endParaRPr lang="pt-BR" sz="1400" b="1" dirty="0" smtClean="0"/>
              </a:p>
            </p:txBody>
          </p:sp>
          <p:sp>
            <p:nvSpPr>
              <p:cNvPr id="83" name="Rectangle 82"/>
              <p:cNvSpPr/>
              <p:nvPr/>
            </p:nvSpPr>
            <p:spPr>
              <a:xfrm>
                <a:off x="604186" y="4717265"/>
                <a:ext cx="2680464" cy="9387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pt-BR" altLang="pt-BR" sz="1100" dirty="0">
                    <a:latin typeface="Arial" panose="020B0604020202020204" pitchFamily="34" charset="0"/>
                  </a:rPr>
                  <a:t>Cada pixel da imagem é convertido em uma pequena célula </a:t>
                </a:r>
                <a:r>
                  <a:rPr lang="pt-BR" altLang="pt-BR" sz="1100" dirty="0" smtClean="0">
                    <a:latin typeface="Arial" panose="020B0604020202020204" pitchFamily="34" charset="0"/>
                  </a:rPr>
                  <a:t>colorida. A </a:t>
                </a:r>
                <a:r>
                  <a:rPr lang="pt-BR" altLang="pt-BR" sz="1100" dirty="0">
                    <a:latin typeface="Arial" panose="020B0604020202020204" pitchFamily="34" charset="0"/>
                  </a:rPr>
                  <a:t>biblioteca Turtle move a “tartaruga” para a posição correta e desenha um quadrado colorido.</a:t>
                </a:r>
              </a:p>
            </p:txBody>
          </p:sp>
          <p:pic>
            <p:nvPicPr>
              <p:cNvPr id="84" name="Picture 83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87156" y="4472050"/>
                <a:ext cx="1138629" cy="1204245"/>
              </a:xfrm>
              <a:prstGeom prst="rect">
                <a:avLst/>
              </a:prstGeom>
            </p:spPr>
          </p:pic>
        </p:grpSp>
        <p:pic>
          <p:nvPicPr>
            <p:cNvPr id="86" name="Picture 8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70850" y="4329030"/>
              <a:ext cx="388235" cy="388235"/>
            </a:xfrm>
            <a:prstGeom prst="rect">
              <a:avLst/>
            </a:prstGeom>
          </p:spPr>
        </p:pic>
      </p:grpSp>
      <p:cxnSp>
        <p:nvCxnSpPr>
          <p:cNvPr id="116" name="Straight Arrow Connector 115"/>
          <p:cNvCxnSpPr>
            <a:stCxn id="18" idx="2"/>
            <a:endCxn id="19" idx="0"/>
          </p:cNvCxnSpPr>
          <p:nvPr/>
        </p:nvCxnSpPr>
        <p:spPr>
          <a:xfrm>
            <a:off x="2848040" y="1932954"/>
            <a:ext cx="12423" cy="582425"/>
          </a:xfrm>
          <a:prstGeom prst="straightConnector1">
            <a:avLst/>
          </a:prstGeom>
          <a:ln w="38100">
            <a:solidFill>
              <a:srgbClr val="FFEC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>
            <a:off x="2781365" y="4152279"/>
            <a:ext cx="12423" cy="582425"/>
          </a:xfrm>
          <a:prstGeom prst="straightConnector1">
            <a:avLst/>
          </a:prstGeom>
          <a:ln w="38100">
            <a:solidFill>
              <a:srgbClr val="FFEC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Picture 5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0519" y="2684080"/>
            <a:ext cx="3627391" cy="3321226"/>
          </a:xfrm>
          <a:prstGeom prst="rect">
            <a:avLst/>
          </a:prstGeom>
        </p:spPr>
      </p:pic>
      <p:grpSp>
        <p:nvGrpSpPr>
          <p:cNvPr id="55" name="Group 54"/>
          <p:cNvGrpSpPr/>
          <p:nvPr/>
        </p:nvGrpSpPr>
        <p:grpSpPr>
          <a:xfrm>
            <a:off x="6900748" y="964231"/>
            <a:ext cx="1608516" cy="1472211"/>
            <a:chOff x="7932834" y="983769"/>
            <a:chExt cx="1608516" cy="1472211"/>
          </a:xfrm>
        </p:grpSpPr>
        <p:grpSp>
          <p:nvGrpSpPr>
            <p:cNvPr id="56" name="Group 55"/>
            <p:cNvGrpSpPr/>
            <p:nvPr/>
          </p:nvGrpSpPr>
          <p:grpSpPr>
            <a:xfrm>
              <a:off x="7932834" y="1209437"/>
              <a:ext cx="1355555" cy="1246543"/>
              <a:chOff x="7932834" y="1209437"/>
              <a:chExt cx="1355555" cy="1246543"/>
            </a:xfrm>
          </p:grpSpPr>
          <p:pic>
            <p:nvPicPr>
              <p:cNvPr id="61" name="Picture 60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52849" y="1292968"/>
                <a:ext cx="1063751" cy="1103149"/>
              </a:xfrm>
              <a:prstGeom prst="rect">
                <a:avLst/>
              </a:prstGeom>
            </p:spPr>
          </p:pic>
          <p:sp>
            <p:nvSpPr>
              <p:cNvPr id="62" name="Rectangle 61"/>
              <p:cNvSpPr/>
              <p:nvPr/>
            </p:nvSpPr>
            <p:spPr>
              <a:xfrm>
                <a:off x="7934036" y="1221252"/>
                <a:ext cx="1348509" cy="122887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63" name="Straight Connector 62"/>
              <p:cNvCxnSpPr/>
              <p:nvPr/>
            </p:nvCxnSpPr>
            <p:spPr>
              <a:xfrm>
                <a:off x="8052849" y="1215329"/>
                <a:ext cx="0" cy="123479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>
              <a:xfrm flipH="1">
                <a:off x="8200292" y="1227051"/>
                <a:ext cx="4957" cy="122307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>
                <a:off x="8346831" y="1227045"/>
                <a:ext cx="16680" cy="122307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 flipH="1">
                <a:off x="8499231" y="1215314"/>
                <a:ext cx="22542" cy="123481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>
                <a:off x="8821615" y="1221165"/>
                <a:ext cx="4958" cy="122895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 flipH="1">
                <a:off x="8962292" y="1209437"/>
                <a:ext cx="16681" cy="12406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>
              <a:xfrm flipH="1">
                <a:off x="9116600" y="1227018"/>
                <a:ext cx="14773" cy="122310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>
                <a:off x="7938720" y="1363362"/>
                <a:ext cx="1343825" cy="666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 flipH="1">
                <a:off x="7938715" y="1515762"/>
                <a:ext cx="1343825" cy="666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>
                <a:off x="7938709" y="1674024"/>
                <a:ext cx="1343825" cy="666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 flipH="1">
                <a:off x="7944564" y="1826424"/>
                <a:ext cx="1343825" cy="666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flipH="1">
                <a:off x="7938698" y="1984686"/>
                <a:ext cx="1343825" cy="666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flipH="1">
                <a:off x="7932834" y="2137086"/>
                <a:ext cx="1343825" cy="666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flipH="1">
                <a:off x="7944552" y="2289486"/>
                <a:ext cx="1343825" cy="666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flipH="1">
                <a:off x="8651631" y="1221170"/>
                <a:ext cx="22542" cy="123481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TextBox 56"/>
            <p:cNvSpPr txBox="1"/>
            <p:nvPr/>
          </p:nvSpPr>
          <p:spPr>
            <a:xfrm>
              <a:off x="8200292" y="983769"/>
              <a:ext cx="80457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 smtClean="0"/>
                <a:t>Grid_size</a:t>
              </a:r>
              <a:endParaRPr lang="pt-BR" sz="1000" dirty="0" smtClean="0"/>
            </a:p>
          </p:txBody>
        </p:sp>
        <p:sp>
          <p:nvSpPr>
            <p:cNvPr id="60" name="TextBox 59"/>
            <p:cNvSpPr txBox="1"/>
            <p:nvPr/>
          </p:nvSpPr>
          <p:spPr>
            <a:xfrm rot="5400000">
              <a:off x="9015953" y="1703314"/>
              <a:ext cx="80457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 smtClean="0"/>
                <a:t>Grid_size</a:t>
              </a:r>
              <a:endParaRPr lang="pt-BR" sz="1000" dirty="0" smtClean="0"/>
            </a:p>
          </p:txBody>
        </p:sp>
      </p:grpSp>
      <p:pic>
        <p:nvPicPr>
          <p:cNvPr id="78" name="Picture 7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824" y="1142896"/>
            <a:ext cx="1138629" cy="1204245"/>
          </a:xfrm>
          <a:prstGeom prst="rect">
            <a:avLst/>
          </a:prstGeom>
        </p:spPr>
      </p:pic>
      <p:sp>
        <p:nvSpPr>
          <p:cNvPr id="3" name="Left Brace 2"/>
          <p:cNvSpPr/>
          <p:nvPr/>
        </p:nvSpPr>
        <p:spPr>
          <a:xfrm>
            <a:off x="6134100" y="907225"/>
            <a:ext cx="778366" cy="5098081"/>
          </a:xfrm>
          <a:prstGeom prst="leftBrace">
            <a:avLst/>
          </a:prstGeom>
          <a:ln w="28575">
            <a:solidFill>
              <a:srgbClr val="FFE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Elbow Connector 6"/>
          <p:cNvCxnSpPr>
            <a:stCxn id="58" idx="3"/>
            <a:endCxn id="3" idx="1"/>
          </p:cNvCxnSpPr>
          <p:nvPr/>
        </p:nvCxnSpPr>
        <p:spPr>
          <a:xfrm flipV="1">
            <a:off x="5169800" y="3456266"/>
            <a:ext cx="964300" cy="2136714"/>
          </a:xfrm>
          <a:prstGeom prst="bentConnector3">
            <a:avLst/>
          </a:prstGeom>
          <a:ln w="28575">
            <a:solidFill>
              <a:srgbClr val="FFEC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9736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517086" y="74487"/>
            <a:ext cx="398979" cy="365125"/>
          </a:xfrm>
        </p:spPr>
        <p:txBody>
          <a:bodyPr/>
          <a:lstStyle/>
          <a:p>
            <a:fld id="{CC0DFF91-5045-4B79-8625-7B2EAF077CB3}" type="slidenum">
              <a:rPr lang="pt-BR" smtClean="0">
                <a:solidFill>
                  <a:srgbClr val="EF3E58"/>
                </a:solidFill>
              </a:rPr>
              <a:t>11</a:t>
            </a:fld>
            <a:endParaRPr lang="pt-BR" dirty="0">
              <a:solidFill>
                <a:srgbClr val="EF3E58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20770" y="86264"/>
            <a:ext cx="11895826" cy="6573329"/>
            <a:chOff x="120770" y="86264"/>
            <a:chExt cx="11895826" cy="6573329"/>
          </a:xfrm>
        </p:grpSpPr>
        <p:sp>
          <p:nvSpPr>
            <p:cNvPr id="11" name="Rectangle 10"/>
            <p:cNvSpPr/>
            <p:nvPr/>
          </p:nvSpPr>
          <p:spPr>
            <a:xfrm>
              <a:off x="120770" y="86264"/>
              <a:ext cx="11895826" cy="6573329"/>
            </a:xfrm>
            <a:prstGeom prst="rect">
              <a:avLst/>
            </a:prstGeom>
            <a:noFill/>
            <a:ln w="19050">
              <a:solidFill>
                <a:srgbClr val="EF3E5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120770" y="424066"/>
              <a:ext cx="11895826" cy="0"/>
            </a:xfrm>
            <a:prstGeom prst="line">
              <a:avLst/>
            </a:prstGeom>
            <a:ln w="19050">
              <a:solidFill>
                <a:srgbClr val="EF3E5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/>
            <p:cNvGrpSpPr/>
            <p:nvPr/>
          </p:nvGrpSpPr>
          <p:grpSpPr>
            <a:xfrm>
              <a:off x="266318" y="155961"/>
              <a:ext cx="675736" cy="155276"/>
              <a:chOff x="2104845" y="1173192"/>
              <a:chExt cx="675736" cy="155276"/>
            </a:xfrm>
          </p:grpSpPr>
          <p:sp>
            <p:nvSpPr>
              <p:cNvPr id="14" name="Oval 13"/>
              <p:cNvSpPr/>
              <p:nvPr/>
            </p:nvSpPr>
            <p:spPr>
              <a:xfrm>
                <a:off x="2104845" y="1173192"/>
                <a:ext cx="163902" cy="155276"/>
              </a:xfrm>
              <a:prstGeom prst="ellipse">
                <a:avLst/>
              </a:prstGeom>
              <a:solidFill>
                <a:srgbClr val="FFFAEC"/>
              </a:solidFill>
              <a:ln>
                <a:solidFill>
                  <a:srgbClr val="FFFA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2360762" y="1173192"/>
                <a:ext cx="163902" cy="155276"/>
              </a:xfrm>
              <a:prstGeom prst="ellipse">
                <a:avLst/>
              </a:prstGeom>
              <a:solidFill>
                <a:srgbClr val="FFECFF"/>
              </a:solidFill>
              <a:ln>
                <a:solidFill>
                  <a:srgbClr val="FFEC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2616679" y="1173192"/>
                <a:ext cx="163902" cy="155276"/>
              </a:xfrm>
              <a:prstGeom prst="ellipse">
                <a:avLst/>
              </a:prstGeom>
              <a:solidFill>
                <a:srgbClr val="67F2F2">
                  <a:alpha val="50000"/>
                </a:srgbClr>
              </a:solidFill>
              <a:ln>
                <a:solidFill>
                  <a:srgbClr val="67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475" y="127894"/>
            <a:ext cx="498672" cy="2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623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517086" y="74487"/>
            <a:ext cx="398979" cy="365125"/>
          </a:xfrm>
        </p:spPr>
        <p:txBody>
          <a:bodyPr/>
          <a:lstStyle/>
          <a:p>
            <a:fld id="{CC0DFF91-5045-4B79-8625-7B2EAF077CB3}" type="slidenum">
              <a:rPr lang="pt-BR" smtClean="0">
                <a:solidFill>
                  <a:srgbClr val="EF3E58"/>
                </a:solidFill>
              </a:rPr>
              <a:t>12</a:t>
            </a:fld>
            <a:endParaRPr lang="pt-BR" dirty="0">
              <a:solidFill>
                <a:srgbClr val="EF3E58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20770" y="86264"/>
            <a:ext cx="11895826" cy="6573329"/>
            <a:chOff x="120770" y="86264"/>
            <a:chExt cx="11895826" cy="6573329"/>
          </a:xfrm>
        </p:grpSpPr>
        <p:sp>
          <p:nvSpPr>
            <p:cNvPr id="11" name="Rectangle 10"/>
            <p:cNvSpPr/>
            <p:nvPr/>
          </p:nvSpPr>
          <p:spPr>
            <a:xfrm>
              <a:off x="120770" y="86264"/>
              <a:ext cx="11895826" cy="6573329"/>
            </a:xfrm>
            <a:prstGeom prst="rect">
              <a:avLst/>
            </a:prstGeom>
            <a:noFill/>
            <a:ln w="19050">
              <a:solidFill>
                <a:srgbClr val="EF3E5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120770" y="424066"/>
              <a:ext cx="11895826" cy="0"/>
            </a:xfrm>
            <a:prstGeom prst="line">
              <a:avLst/>
            </a:prstGeom>
            <a:ln w="19050">
              <a:solidFill>
                <a:srgbClr val="EF3E5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/>
            <p:cNvGrpSpPr/>
            <p:nvPr/>
          </p:nvGrpSpPr>
          <p:grpSpPr>
            <a:xfrm>
              <a:off x="266318" y="155961"/>
              <a:ext cx="675736" cy="155276"/>
              <a:chOff x="2104845" y="1173192"/>
              <a:chExt cx="675736" cy="155276"/>
            </a:xfrm>
          </p:grpSpPr>
          <p:sp>
            <p:nvSpPr>
              <p:cNvPr id="14" name="Oval 13"/>
              <p:cNvSpPr/>
              <p:nvPr/>
            </p:nvSpPr>
            <p:spPr>
              <a:xfrm>
                <a:off x="2104845" y="1173192"/>
                <a:ext cx="163902" cy="155276"/>
              </a:xfrm>
              <a:prstGeom prst="ellipse">
                <a:avLst/>
              </a:prstGeom>
              <a:solidFill>
                <a:srgbClr val="FFFAEC"/>
              </a:solidFill>
              <a:ln>
                <a:solidFill>
                  <a:srgbClr val="FFFA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2360762" y="1173192"/>
                <a:ext cx="163902" cy="155276"/>
              </a:xfrm>
              <a:prstGeom prst="ellipse">
                <a:avLst/>
              </a:prstGeom>
              <a:solidFill>
                <a:srgbClr val="FFECFF"/>
              </a:solidFill>
              <a:ln>
                <a:solidFill>
                  <a:srgbClr val="FFEC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2616679" y="1173192"/>
                <a:ext cx="163902" cy="155276"/>
              </a:xfrm>
              <a:prstGeom prst="ellipse">
                <a:avLst/>
              </a:prstGeom>
              <a:solidFill>
                <a:srgbClr val="67F2F2">
                  <a:alpha val="50000"/>
                </a:srgbClr>
              </a:solidFill>
              <a:ln>
                <a:solidFill>
                  <a:srgbClr val="67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475" y="127894"/>
            <a:ext cx="498672" cy="2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71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517086" y="74487"/>
            <a:ext cx="398979" cy="365125"/>
          </a:xfrm>
        </p:spPr>
        <p:txBody>
          <a:bodyPr/>
          <a:lstStyle/>
          <a:p>
            <a:fld id="{CC0DFF91-5045-4B79-8625-7B2EAF077CB3}" type="slidenum">
              <a:rPr lang="pt-BR" smtClean="0">
                <a:solidFill>
                  <a:srgbClr val="EF3E58"/>
                </a:solidFill>
              </a:rPr>
              <a:t>13</a:t>
            </a:fld>
            <a:endParaRPr lang="pt-BR" dirty="0">
              <a:solidFill>
                <a:srgbClr val="EF3E58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20770" y="86264"/>
            <a:ext cx="11895826" cy="6573329"/>
            <a:chOff x="120770" y="86264"/>
            <a:chExt cx="11895826" cy="6573329"/>
          </a:xfrm>
        </p:grpSpPr>
        <p:sp>
          <p:nvSpPr>
            <p:cNvPr id="11" name="Rectangle 10"/>
            <p:cNvSpPr/>
            <p:nvPr/>
          </p:nvSpPr>
          <p:spPr>
            <a:xfrm>
              <a:off x="120770" y="86264"/>
              <a:ext cx="11895826" cy="6573329"/>
            </a:xfrm>
            <a:prstGeom prst="rect">
              <a:avLst/>
            </a:prstGeom>
            <a:noFill/>
            <a:ln w="19050">
              <a:solidFill>
                <a:srgbClr val="EF3E5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120770" y="424066"/>
              <a:ext cx="11895826" cy="0"/>
            </a:xfrm>
            <a:prstGeom prst="line">
              <a:avLst/>
            </a:prstGeom>
            <a:ln w="19050">
              <a:solidFill>
                <a:srgbClr val="EF3E5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/>
            <p:cNvGrpSpPr/>
            <p:nvPr/>
          </p:nvGrpSpPr>
          <p:grpSpPr>
            <a:xfrm>
              <a:off x="266318" y="155961"/>
              <a:ext cx="675736" cy="155276"/>
              <a:chOff x="2104845" y="1173192"/>
              <a:chExt cx="675736" cy="155276"/>
            </a:xfrm>
          </p:grpSpPr>
          <p:sp>
            <p:nvSpPr>
              <p:cNvPr id="14" name="Oval 13"/>
              <p:cNvSpPr/>
              <p:nvPr/>
            </p:nvSpPr>
            <p:spPr>
              <a:xfrm>
                <a:off x="2104845" y="1173192"/>
                <a:ext cx="163902" cy="155276"/>
              </a:xfrm>
              <a:prstGeom prst="ellipse">
                <a:avLst/>
              </a:prstGeom>
              <a:solidFill>
                <a:srgbClr val="FFFAEC"/>
              </a:solidFill>
              <a:ln>
                <a:solidFill>
                  <a:srgbClr val="FFFA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2360762" y="1173192"/>
                <a:ext cx="163902" cy="155276"/>
              </a:xfrm>
              <a:prstGeom prst="ellipse">
                <a:avLst/>
              </a:prstGeom>
              <a:solidFill>
                <a:srgbClr val="FFECFF"/>
              </a:solidFill>
              <a:ln>
                <a:solidFill>
                  <a:srgbClr val="FFEC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2616679" y="1173192"/>
                <a:ext cx="163902" cy="155276"/>
              </a:xfrm>
              <a:prstGeom prst="ellipse">
                <a:avLst/>
              </a:prstGeom>
              <a:solidFill>
                <a:srgbClr val="67F2F2">
                  <a:alpha val="50000"/>
                </a:srgbClr>
              </a:solidFill>
              <a:ln>
                <a:solidFill>
                  <a:srgbClr val="67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475" y="127894"/>
            <a:ext cx="498672" cy="258312"/>
          </a:xfrm>
          <a:prstGeom prst="rect">
            <a:avLst/>
          </a:prstGeom>
        </p:spPr>
      </p:pic>
      <p:sp>
        <p:nvSpPr>
          <p:cNvPr id="20" name="Google Shape;340;p29"/>
          <p:cNvSpPr txBox="1"/>
          <p:nvPr/>
        </p:nvSpPr>
        <p:spPr>
          <a:xfrm>
            <a:off x="4136280" y="2169951"/>
            <a:ext cx="2936873" cy="1456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dirty="0" smtClean="0">
                <a:latin typeface="Bahnschrift Light Condensed" panose="020B0502040204020203" pitchFamily="34" charset="0"/>
                <a:ea typeface="Barlow Semi Condensed"/>
                <a:cs typeface="Barlow Semi Condensed"/>
                <a:sym typeface="Barlow Semi Condensed"/>
              </a:rPr>
              <a:t>MUITO OBRIGADA!!</a:t>
            </a:r>
            <a:endParaRPr sz="4000" b="1" dirty="0">
              <a:latin typeface="Bahnschrift Light Condensed" panose="020B0502040204020203" pitchFamily="34" charset="0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482353" y="3501503"/>
            <a:ext cx="2447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juliamarcolan@usp.br</a:t>
            </a:r>
            <a:endParaRPr lang="pt-BR" dirty="0"/>
          </a:p>
        </p:txBody>
      </p:sp>
      <p:sp>
        <p:nvSpPr>
          <p:cNvPr id="23" name="Rounded Rectangle 22"/>
          <p:cNvSpPr/>
          <p:nvPr/>
        </p:nvSpPr>
        <p:spPr>
          <a:xfrm>
            <a:off x="3401976" y="2144044"/>
            <a:ext cx="4985101" cy="1971434"/>
          </a:xfrm>
          <a:prstGeom prst="roundRect">
            <a:avLst/>
          </a:prstGeom>
          <a:solidFill>
            <a:srgbClr val="FFCCFF">
              <a:alpha val="37000"/>
            </a:srgbClr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99114">
            <a:off x="7521217" y="2677488"/>
            <a:ext cx="825269" cy="89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999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3800</TotalTime>
  <Words>348</Words>
  <Application>Microsoft Office PowerPoint</Application>
  <PresentationFormat>Widescreen</PresentationFormat>
  <Paragraphs>65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Bahnschrift Light Condensed</vt:lpstr>
      <vt:lpstr>Barlow Semi Condensed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 Marcolan</dc:creator>
  <cp:lastModifiedBy>Julia Marcolan</cp:lastModifiedBy>
  <cp:revision>54</cp:revision>
  <dcterms:created xsi:type="dcterms:W3CDTF">2025-06-10T00:53:15Z</dcterms:created>
  <dcterms:modified xsi:type="dcterms:W3CDTF">2025-11-12T01:25:34Z</dcterms:modified>
</cp:coreProperties>
</file>